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644640" y="-226060"/>
            <a:ext cx="3200400" cy="32004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 rot="2700000">
            <a:off x="7101840" y="212725"/>
            <a:ext cx="2286000" cy="2286000"/>
          </a:xfrm>
          <a:prstGeom prst="rect">
            <a:avLst/>
          </a:prstGeom>
          <a:solidFill>
            <a:srgbClr val="C9A961">
              <a:alpha val="2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914400" y="3840480"/>
            <a:ext cx="2286000" cy="2286000"/>
          </a:xfrm>
          <a:prstGeom prst="ellipse">
            <a:avLst/>
          </a:prstGeom>
          <a:solidFill>
            <a:srgbClr val="1565D8">
              <a:alpha val="2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12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Kingsware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0" cy="54864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7" name="Text 5"/>
          <p:cNvSpPr/>
          <p:nvPr/>
        </p:nvSpPr>
        <p:spPr>
          <a:xfrm>
            <a:off x="457200" y="1691640"/>
            <a:ext cx="7315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智慧信贷智能体平台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kern="0" spc="200" dirty="0">
                <a:solidFill>
                  <a:srgbClr val="E5C7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Intelligent Credit Agentic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E8F0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面向银行业的小微 · 个体户 · 普惠信贷一体化解决方案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210312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204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公共数据要素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3520440"/>
            <a:ext cx="210312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5204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五维信用评分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3520440"/>
            <a:ext cx="210312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5204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Agent 自主尽调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8229600" cy="10973"/>
          </a:xfrm>
          <a:prstGeom prst="rect">
            <a:avLst/>
          </a:prstGeom>
          <a:solidFill>
            <a:srgbClr val="C9A961">
              <a:alpha val="5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457200" y="4526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产品介绍 · v2.0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45262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珠海金智维人工智能股份有限公司  |  Inside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 · 目录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  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457200" y="1554480"/>
            <a:ext cx="4114800" cy="59436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640080" cy="5943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0" name="Text 8"/>
          <p:cNvSpPr/>
          <p:nvPr/>
        </p:nvSpPr>
        <p:spPr>
          <a:xfrm>
            <a:off x="457200" y="155448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60020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行业洞察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88366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普惠金融的中国时刻 · 银行三大痛点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03320" y="1554480"/>
            <a:ext cx="822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P3-6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4114800" cy="59436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554480"/>
            <a:ext cx="640080" cy="5943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6" name="Text 14"/>
          <p:cNvSpPr/>
          <p:nvPr/>
        </p:nvSpPr>
        <p:spPr>
          <a:xfrm>
            <a:off x="4754880" y="155448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32120" y="160020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产品定位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188366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智慧信贷智能体平台 · 核心价值主张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01000" y="1554480"/>
            <a:ext cx="822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P7-10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267712"/>
            <a:ext cx="4114800" cy="59436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267712"/>
            <a:ext cx="640080" cy="5943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22" name="Text 20"/>
          <p:cNvSpPr/>
          <p:nvPr/>
        </p:nvSpPr>
        <p:spPr>
          <a:xfrm>
            <a:off x="457200" y="2267712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2313432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产品架构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259689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四层架构 · 26个Agent · 五维评分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03320" y="2267712"/>
            <a:ext cx="822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P11-19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267712"/>
            <a:ext cx="4114800" cy="59436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267712"/>
            <a:ext cx="640080" cy="5943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28" name="Text 26"/>
          <p:cNvSpPr/>
          <p:nvPr/>
        </p:nvSpPr>
        <p:spPr>
          <a:xfrm>
            <a:off x="4754880" y="2267712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32120" y="2313432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合规与安全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32120" y="259689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Audit-by-Design · 监管原生友好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01000" y="2267712"/>
            <a:ext cx="822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P20-22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980944"/>
            <a:ext cx="4114800" cy="59436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980944"/>
            <a:ext cx="640080" cy="5943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4" name="Text 32"/>
          <p:cNvSpPr/>
          <p:nvPr/>
        </p:nvSpPr>
        <p:spPr>
          <a:xfrm>
            <a:off x="457200" y="2980944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34440" y="3026664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标杆案例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34440" y="3310128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省级普惠金融示范区批量授信项目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03320" y="2980944"/>
            <a:ext cx="822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P23-24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980944"/>
            <a:ext cx="4114800" cy="59436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980944"/>
            <a:ext cx="640080" cy="5943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0" name="Text 38"/>
          <p:cNvSpPr/>
          <p:nvPr/>
        </p:nvSpPr>
        <p:spPr>
          <a:xfrm>
            <a:off x="4754880" y="2980944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532120" y="3026664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实施路径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532120" y="3310128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POC · 试点 · 全面落地三阶段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01000" y="2980944"/>
            <a:ext cx="822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P25-26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694176"/>
            <a:ext cx="4114800" cy="59436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694176"/>
            <a:ext cx="640080" cy="5943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6" name="Text 44"/>
          <p:cNvSpPr/>
          <p:nvPr/>
        </p:nvSpPr>
        <p:spPr>
          <a:xfrm>
            <a:off x="457200" y="3694176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234440" y="3739896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关于金智维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234440" y="402336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服务银行70+ · Agent部署2000+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703320" y="3694176"/>
            <a:ext cx="822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P27-28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/ 28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743200" cy="51435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7772400" y="1371600"/>
            <a:ext cx="1828800" cy="2286000"/>
          </a:xfrm>
          <a:prstGeom prst="rect">
            <a:avLst/>
          </a:prstGeom>
          <a:solidFill>
            <a:srgbClr val="C9A961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128016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48640" cy="54864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6" name="Text 4"/>
          <p:cNvSpPr/>
          <p:nvPr/>
        </p:nvSpPr>
        <p:spPr>
          <a:xfrm>
            <a:off x="548640" y="30632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行业洞察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5C7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Industry Insights · 普惠金融时代的银行机遇与挑战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1.1 行业洞察 · 普惠金融的中国时刻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40055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普惠金融的「中国时刻」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62915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政策、市场、技术三股力量共同推动的历史必然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8412480" cy="50292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9" name="Shape 7"/>
          <p:cNvSpPr/>
          <p:nvPr/>
        </p:nvSpPr>
        <p:spPr>
          <a:xfrm>
            <a:off x="365760" y="1554480"/>
            <a:ext cx="54864" cy="50292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10" name="Text 8"/>
          <p:cNvSpPr/>
          <p:nvPr/>
        </p:nvSpPr>
        <p:spPr>
          <a:xfrm>
            <a:off x="548640" y="1554480"/>
            <a:ext cx="8183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"切实做好科技金融、绿色金融、普惠金融、养老金融、数字金融五篇大文章……做到敢贷、愿贷、能贷、会贷"  — 中央金融工作会议精神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三大目标客群 · 普惠金融的真实需求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51760"/>
            <a:ext cx="2697480" cy="54864"/>
          </a:xfrm>
          <a:prstGeom prst="rect">
            <a:avLst/>
          </a:prstGeom>
          <a:solidFill>
            <a:srgbClr val="1565D8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78892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43000" y="2788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中小微企业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" y="33375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5,200万+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94360" y="3822192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贡献全国60%以上GDP、50%以上税收</a:t>
            </a:r>
            <a:endParaRPr lang="en-US" sz="9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获得银行授信比例不足30%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00400" y="265176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0" y="2651760"/>
            <a:ext cx="2697480" cy="54864"/>
          </a:xfrm>
          <a:prstGeom prst="rect">
            <a:avLst/>
          </a:prstGeom>
          <a:solidFill>
            <a:srgbClr val="C9A961"/>
          </a:solidFill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78892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977640" y="2788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个体工商户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429000" y="33375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1.24亿户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3429000" y="3822192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从业人员近3亿</a:t>
            </a:r>
            <a:endParaRPr lang="en-US" sz="9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普惠金融最后一公里,最难覆盖的群体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035040" y="265176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035040" y="2651760"/>
            <a:ext cx="2697480" cy="54864"/>
          </a:xfrm>
          <a:prstGeom prst="rect">
            <a:avLst/>
          </a:prstGeom>
          <a:solidFill>
            <a:srgbClr val="00A86B"/>
          </a:solidFill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78892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812280" y="2788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新型农业经营主体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263640" y="33375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A8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600万家</a:t>
            </a:r>
            <a:endParaRPr lang="en-US" sz="2600" dirty="0"/>
          </a:p>
        </p:txBody>
      </p:sp>
      <p:sp>
        <p:nvSpPr>
          <p:cNvPr id="29" name="Text 24"/>
          <p:cNvSpPr/>
          <p:nvPr/>
        </p:nvSpPr>
        <p:spPr>
          <a:xfrm>
            <a:off x="6263640" y="3822192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家庭农场、合作社、龙头企业</a:t>
            </a:r>
            <a:endParaRPr lang="en-US" sz="9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乡村振兴战略下的信贷供给重点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1" name="Text 26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核心特征:单笔授信金额小 · 笔数多 · 信息不对称严重 — 这正是 AI Agent 能发挥根本性作用的领域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/ 28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1.2 行业洞察 · 银行三大痛点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1021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银行小微 / 个体户授信的三大痛点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021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源自 30+ 家银行普惠金融部的深度调研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8412480" cy="96012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54480"/>
            <a:ext cx="777240" cy="96012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0" name="Text 8"/>
          <p:cNvSpPr/>
          <p:nvPr/>
        </p:nvSpPr>
        <p:spPr>
          <a:xfrm>
            <a:off x="365760" y="1554480"/>
            <a:ext cx="777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3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47088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74520" y="1645920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成本高</a:t>
            </a:r>
            <a:r>
              <a:rPr lang="en-US" sz="1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·  </a:t>
            </a:r>
            <a:r>
              <a:rPr lang="en-US" sz="1100" i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尽调成本与单笔收益失衡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874520" y="20116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客户经理平均需 2-3 天完成 1 份小微尽调报告;单户综合尽调成本约 3,000 元,接近甚至超过单户年化贡献利润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766560" y="1664208"/>
            <a:ext cx="1920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16916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3,000 元 / 户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766560" y="21031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传统尽调成本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65760" y="2633472"/>
            <a:ext cx="8412480" cy="96012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633472"/>
            <a:ext cx="777240" cy="96012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9" name="Text 16"/>
          <p:cNvSpPr/>
          <p:nvPr/>
        </p:nvSpPr>
        <p:spPr>
          <a:xfrm>
            <a:off x="365760" y="2633472"/>
            <a:ext cx="777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32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26080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874520" y="272491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风险大</a:t>
            </a:r>
            <a:r>
              <a:rPr lang="en-US" sz="1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·  </a:t>
            </a:r>
            <a:r>
              <a:rPr lang="en-US" sz="1100" i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看不清的客户最危险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874520" y="3090672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财务报表不规范、关联关系隐蔽,某农商行 2024 年不良案例中 70% 来自欺诈而非真实经营恶化,传统评分卡识别能力弱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766560" y="2743200"/>
            <a:ext cx="1920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66560" y="277063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70%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6766560" y="31821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欺诈占不良比例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65760" y="3712464"/>
            <a:ext cx="8412480" cy="96012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65760" y="3712464"/>
            <a:ext cx="777240" cy="96012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28" name="Text 24"/>
          <p:cNvSpPr/>
          <p:nvPr/>
        </p:nvSpPr>
        <p:spPr>
          <a:xfrm>
            <a:off x="365760" y="3712464"/>
            <a:ext cx="7772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32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005072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874520" y="3803904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覆盖窄</a:t>
            </a:r>
            <a:r>
              <a:rPr lang="en-US" sz="12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·  </a:t>
            </a:r>
            <a:r>
              <a:rPr lang="en-US" sz="1100" i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想做的客户做不了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1874520" y="416966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已搭建的线上申请、智能审批等数字化能力,实际使用率往往不到 30%,纯模型审批通过率低、客户体验差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6766560" y="3822192"/>
            <a:ext cx="1920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766560" y="3849624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&lt; 30%</a:t>
            </a:r>
            <a:endParaRPr lang="en-US" sz="2200" dirty="0"/>
          </a:p>
        </p:txBody>
      </p:sp>
      <p:sp>
        <p:nvSpPr>
          <p:cNvPr id="34" name="Text 29"/>
          <p:cNvSpPr/>
          <p:nvPr/>
        </p:nvSpPr>
        <p:spPr>
          <a:xfrm>
            <a:off x="6766560" y="426110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数字化使用率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/ 28</a:t>
            </a:r>
            <a:endParaRPr lang="en-US" sz="800" dirty="0"/>
          </a:p>
        </p:txBody>
      </p:sp>
      <p:sp>
        <p:nvSpPr>
          <p:cNvPr id="37" name="文本框 36"/>
          <p:cNvSpPr txBox="1"/>
          <p:nvPr/>
        </p:nvSpPr>
        <p:spPr>
          <a:xfrm>
            <a:off x="76200" y="14605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1.3-1.4 行业洞察 · 双轮驱动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37211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公共数据要素 × AI Agent — 双轮驱动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国家政策与技术成熟同步打开历史窗口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4114800" cy="315468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54480"/>
            <a:ext cx="4114800" cy="457200"/>
          </a:xfrm>
          <a:prstGeom prst="rect">
            <a:avLst/>
          </a:prstGeom>
          <a:solidFill>
            <a:srgbClr val="0A2540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27632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155448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公共数据要素 · 政策窗口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210312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自《数据二十条》发布以来,公共数据授权运营在全国20+省市落地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2606040"/>
            <a:ext cx="3840480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594360" y="2606040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20+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91640" y="260604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省市开展授权运营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3063240"/>
            <a:ext cx="3840480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4"/>
          <p:cNvSpPr/>
          <p:nvPr/>
        </p:nvSpPr>
        <p:spPr>
          <a:xfrm>
            <a:off x="594360" y="3063240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50+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691640" y="306324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公共数据类目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02920" y="3520440"/>
            <a:ext cx="3840480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Text 17"/>
          <p:cNvSpPr/>
          <p:nvPr/>
        </p:nvSpPr>
        <p:spPr>
          <a:xfrm>
            <a:off x="594360" y="3520440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323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691640" y="352044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标准化API接口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2920" y="411480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数据真实性最高 · 合规边界清晰 · 覆盖经营全貌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63440" y="1554480"/>
            <a:ext cx="4114800" cy="315468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63440" y="1554480"/>
            <a:ext cx="4114800" cy="457200"/>
          </a:xfrm>
          <a:prstGeom prst="rect">
            <a:avLst/>
          </a:prstGeom>
          <a:solidFill>
            <a:srgbClr val="0A2540"/>
          </a:solidFill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27632"/>
            <a:ext cx="320040" cy="3200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66360" y="155448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Agent · 技术成熟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4800600" y="2194560"/>
            <a:ext cx="3840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800600" y="2194560"/>
            <a:ext cx="777240" cy="713232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9" name="Text 25"/>
          <p:cNvSpPr/>
          <p:nvPr/>
        </p:nvSpPr>
        <p:spPr>
          <a:xfrm>
            <a:off x="4800600" y="2194560"/>
            <a:ext cx="7772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22-23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5669280" y="219456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大模型问答</a:t>
            </a:r>
            <a:endParaRPr lang="en-US" sz="11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会聊天的实习生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800600" y="2971800"/>
            <a:ext cx="3840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4A90E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800600" y="2971800"/>
            <a:ext cx="777240" cy="713232"/>
          </a:xfrm>
          <a:prstGeom prst="rect">
            <a:avLst/>
          </a:prstGeom>
          <a:solidFill>
            <a:srgbClr val="4A90E2"/>
          </a:solidFill>
        </p:spPr>
      </p:sp>
      <p:sp>
        <p:nvSpPr>
          <p:cNvPr id="33" name="Text 29"/>
          <p:cNvSpPr/>
          <p:nvPr/>
        </p:nvSpPr>
        <p:spPr>
          <a:xfrm>
            <a:off x="4800600" y="2971800"/>
            <a:ext cx="7772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23-24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669280" y="297180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RAG+工具</a:t>
            </a:r>
            <a:endParaRPr lang="en-US" sz="11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A90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懂检索的助理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4800600" y="3749040"/>
            <a:ext cx="3840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800600" y="3749040"/>
            <a:ext cx="777240" cy="713232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37" name="Text 33"/>
          <p:cNvSpPr/>
          <p:nvPr/>
        </p:nvSpPr>
        <p:spPr>
          <a:xfrm>
            <a:off x="4800600" y="3749040"/>
            <a:ext cx="7772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24-26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669280" y="374904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Agent</a:t>
            </a:r>
            <a:endParaRPr lang="en-US" sz="11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有经验的客户经理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40" name="Text 36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"AI Agent + 公共数据要素" 将成为未来3年银行普惠金融的标配能力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/ 28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743200" cy="51435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7772400" y="1371600"/>
            <a:ext cx="1828800" cy="2286000"/>
          </a:xfrm>
          <a:prstGeom prst="rect">
            <a:avLst/>
          </a:prstGeom>
          <a:solidFill>
            <a:srgbClr val="C9A961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128016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48640" cy="54864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6" name="Text 4"/>
          <p:cNvSpPr/>
          <p:nvPr/>
        </p:nvSpPr>
        <p:spPr>
          <a:xfrm>
            <a:off x="548640" y="30632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产品定位与价值主张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5C7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Product Positioning · 一句话定位 + 四大价值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2.1 产品定位 · 一句话定位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产品定位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Smart Credit Agentic Platform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8412480" cy="12801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9" name="Shape 7"/>
          <p:cNvSpPr/>
          <p:nvPr/>
        </p:nvSpPr>
        <p:spPr>
          <a:xfrm>
            <a:off x="365760" y="1554480"/>
            <a:ext cx="8412480" cy="54864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10" name="Shape 8"/>
          <p:cNvSpPr/>
          <p:nvPr/>
        </p:nvSpPr>
        <p:spPr>
          <a:xfrm>
            <a:off x="365760" y="2779776"/>
            <a:ext cx="8412480" cy="54864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11" name="Text 9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面向银行的小微 / 个体户 / 普惠信贷智能体平台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5C7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以公共数据要素为底座 · 以 AI Agent 为执行层 · 覆盖批量获客、智能征信、全周期风控的一体化解决方案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2697480" cy="1554480"/>
          </a:xfrm>
          <a:prstGeom prst="rect">
            <a:avLst/>
          </a:prstGeom>
          <a:solidFill>
            <a:srgbClr val="FAFBFC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27048" y="3246120"/>
            <a:ext cx="384048" cy="384048"/>
          </a:xfrm>
          <a:prstGeom prst="ellipse">
            <a:avLst/>
          </a:prstGeom>
          <a:solidFill>
            <a:srgbClr val="C9A961"/>
          </a:solidFill>
        </p:spPr>
      </p:sp>
      <p:sp>
        <p:nvSpPr>
          <p:cNvPr id="15" name="Text 13"/>
          <p:cNvSpPr/>
          <p:nvPr/>
        </p:nvSpPr>
        <p:spPr>
          <a:xfrm>
            <a:off x="1527048" y="3246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公共数据要素为底座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国资背景数据运营商提供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数据合规、稳定、可追溯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3108960"/>
            <a:ext cx="2697480" cy="1554480"/>
          </a:xfrm>
          <a:prstGeom prst="rect">
            <a:avLst/>
          </a:prstGeom>
          <a:solidFill>
            <a:srgbClr val="FAFBFC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61688" y="3246120"/>
            <a:ext cx="384048" cy="384048"/>
          </a:xfrm>
          <a:prstGeom prst="ellipse">
            <a:avLst/>
          </a:prstGeom>
          <a:solidFill>
            <a:srgbClr val="C9A961"/>
          </a:solidFill>
        </p:spPr>
      </p:sp>
      <p:sp>
        <p:nvSpPr>
          <p:cNvPr id="20" name="Text 18"/>
          <p:cNvSpPr/>
          <p:nvPr/>
        </p:nvSpPr>
        <p:spPr>
          <a:xfrm>
            <a:off x="4361688" y="3246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91840" y="370332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Agent 为执行层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40690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26个专业Agent协同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模拟人类客户经理团队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3108960"/>
            <a:ext cx="2697480" cy="1554480"/>
          </a:xfrm>
          <a:prstGeom prst="rect">
            <a:avLst/>
          </a:prstGeom>
          <a:solidFill>
            <a:srgbClr val="FAFBFC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96328" y="3246120"/>
            <a:ext cx="384048" cy="384048"/>
          </a:xfrm>
          <a:prstGeom prst="ellipse">
            <a:avLst/>
          </a:prstGeom>
          <a:solidFill>
            <a:srgbClr val="C9A961"/>
          </a:solidFill>
        </p:spPr>
      </p:sp>
      <p:sp>
        <p:nvSpPr>
          <p:cNvPr id="25" name="Text 23"/>
          <p:cNvSpPr/>
          <p:nvPr/>
        </p:nvSpPr>
        <p:spPr>
          <a:xfrm>
            <a:off x="7196328" y="3246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370332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全周期一体化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40690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覆盖获客→征信→审批→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监控→催收信贷全周期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/ 28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2.2 产品定位 · 核心价值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4196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核心价值:降本 · 提效 · 控险 · 扩面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673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为银行小微/个体户授信业务带来的可量化价值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54480"/>
            <a:ext cx="109728" cy="1463040"/>
          </a:xfrm>
          <a:prstGeom prst="rect">
            <a:avLst/>
          </a:prstGeom>
          <a:solidFill>
            <a:srgbClr val="1565D8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719072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565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 92%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108960" y="171907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尽调成本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5800" y="2423160"/>
            <a:ext cx="3657600" cy="10973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4" name="Text 11"/>
          <p:cNvSpPr/>
          <p:nvPr/>
        </p:nvSpPr>
        <p:spPr>
          <a:xfrm>
            <a:off x="685800" y="25146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传统模式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85800" y="271576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3,000 元 / 户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633472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51760" y="25146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565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智能体方案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2651760" y="2715768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250 元 / 户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663440" y="155448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63440" y="1554480"/>
            <a:ext cx="109728" cy="1463040"/>
          </a:xfrm>
          <a:prstGeom prst="rect">
            <a:avLst/>
          </a:prstGeom>
          <a:solidFill>
            <a:srgbClr val="C9A961"/>
          </a:solidFill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78308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623560" y="1719072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↑ 30 ×</a:t>
            </a:r>
            <a:endParaRPr lang="en-US" sz="3600" dirty="0"/>
          </a:p>
        </p:txBody>
      </p:sp>
      <p:sp>
        <p:nvSpPr>
          <p:cNvPr id="23" name="Text 18"/>
          <p:cNvSpPr/>
          <p:nvPr/>
        </p:nvSpPr>
        <p:spPr>
          <a:xfrm>
            <a:off x="7406640" y="171907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尽调效率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983480" y="2423160"/>
            <a:ext cx="3657600" cy="10973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5" name="Text 20"/>
          <p:cNvSpPr/>
          <p:nvPr/>
        </p:nvSpPr>
        <p:spPr>
          <a:xfrm>
            <a:off x="4983480" y="25146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传统模式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4983480" y="271576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2-3 天 / 份</a:t>
            </a:r>
            <a:endParaRPr lang="en-US" sz="1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633472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49440" y="25146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智能体方案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6949440" y="2715768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分钟 / 份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65760" y="315468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65760" y="3154680"/>
            <a:ext cx="109728" cy="1463040"/>
          </a:xfrm>
          <a:prstGeom prst="rect">
            <a:avLst/>
          </a:prstGeom>
          <a:solidFill>
            <a:srgbClr val="E84855"/>
          </a:solidFill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83280"/>
            <a:ext cx="502920" cy="5029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325880" y="3319272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848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↑ 60%</a:t>
            </a:r>
            <a:endParaRPr lang="en-US" sz="3600" dirty="0"/>
          </a:p>
        </p:txBody>
      </p:sp>
      <p:sp>
        <p:nvSpPr>
          <p:cNvPr id="34" name="Text 27"/>
          <p:cNvSpPr/>
          <p:nvPr/>
        </p:nvSpPr>
        <p:spPr>
          <a:xfrm>
            <a:off x="3108960" y="331927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欺诈识别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685800" y="4023360"/>
            <a:ext cx="3657600" cy="10973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29"/>
          <p:cNvSpPr/>
          <p:nvPr/>
        </p:nvSpPr>
        <p:spPr>
          <a:xfrm>
            <a:off x="685800" y="4114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传统模式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685800" y="431596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传统评分卡基线</a:t>
            </a:r>
            <a:endParaRPr lang="en-US" sz="10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33672"/>
            <a:ext cx="201168" cy="20116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651760" y="4114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智能体方案</a:t>
            </a:r>
            <a:endParaRPr lang="en-US" sz="850" dirty="0"/>
          </a:p>
        </p:txBody>
      </p:sp>
      <p:sp>
        <p:nvSpPr>
          <p:cNvPr id="40" name="Text 32"/>
          <p:cNvSpPr/>
          <p:nvPr/>
        </p:nvSpPr>
        <p:spPr>
          <a:xfrm>
            <a:off x="2651760" y="4315968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命中率提升 60%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4663440" y="315468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663440" y="3154680"/>
            <a:ext cx="109728" cy="1463040"/>
          </a:xfrm>
          <a:prstGeom prst="rect">
            <a:avLst/>
          </a:prstGeom>
          <a:solidFill>
            <a:srgbClr val="00A86B"/>
          </a:solidFill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383280"/>
            <a:ext cx="502920" cy="50292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623560" y="3319272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A8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↑ 10 ×</a:t>
            </a:r>
            <a:endParaRPr lang="en-US" sz="3600" dirty="0"/>
          </a:p>
        </p:txBody>
      </p:sp>
      <p:sp>
        <p:nvSpPr>
          <p:cNvPr id="45" name="Text 36"/>
          <p:cNvSpPr/>
          <p:nvPr/>
        </p:nvSpPr>
        <p:spPr>
          <a:xfrm>
            <a:off x="7406640" y="331927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客户覆盖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4983480" y="4023360"/>
            <a:ext cx="3657600" cy="10973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7" name="Text 38"/>
          <p:cNvSpPr/>
          <p:nvPr/>
        </p:nvSpPr>
        <p:spPr>
          <a:xfrm>
            <a:off x="4983480" y="4114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传统模式</a:t>
            </a:r>
            <a:endParaRPr lang="en-US" sz="850" dirty="0"/>
          </a:p>
        </p:txBody>
      </p:sp>
      <p:sp>
        <p:nvSpPr>
          <p:cNvPr id="48" name="Text 39"/>
          <p:cNvSpPr/>
          <p:nvPr/>
        </p:nvSpPr>
        <p:spPr>
          <a:xfrm>
            <a:off x="4983480" y="431596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80 户 / 客户经理 / 年</a:t>
            </a:r>
            <a:endParaRPr lang="en-US" sz="1000" dirty="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233672"/>
            <a:ext cx="201168" cy="201168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6949440" y="4114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智能体方案</a:t>
            </a:r>
            <a:endParaRPr lang="en-US" sz="850" dirty="0"/>
          </a:p>
        </p:txBody>
      </p:sp>
      <p:sp>
        <p:nvSpPr>
          <p:cNvPr id="51" name="Text 41"/>
          <p:cNvSpPr/>
          <p:nvPr/>
        </p:nvSpPr>
        <p:spPr>
          <a:xfrm>
            <a:off x="6949440" y="4315968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800+ 户 / 客户经理 / 年</a:t>
            </a:r>
            <a:endParaRPr lang="en-US" sz="1000" dirty="0"/>
          </a:p>
        </p:txBody>
      </p:sp>
      <p:sp>
        <p:nvSpPr>
          <p:cNvPr id="52" name="Text 42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53" name="Text 43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 / 28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2.3 产品定位 · ROI测算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1021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ROI 测算:中型城商行年化净收益 3,000-5,000 万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假设:5,000户存量 + 年新增 2,000 户小微 + 5,000 户个体户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2926080" cy="315468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9" name="Shape 7"/>
          <p:cNvSpPr/>
          <p:nvPr/>
        </p:nvSpPr>
        <p:spPr>
          <a:xfrm>
            <a:off x="365760" y="1554480"/>
            <a:ext cx="2926080" cy="54864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10" name="Text 8"/>
          <p:cNvSpPr/>
          <p:nvPr/>
        </p:nvSpPr>
        <p:spPr>
          <a:xfrm>
            <a:off x="365760" y="1783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C7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综合年化净收益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3,000 ~ 5,000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" y="26974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万元 / 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3154680"/>
            <a:ext cx="1463040" cy="10973"/>
          </a:xfrm>
          <a:prstGeom prst="rect">
            <a:avLst/>
          </a:prstGeom>
          <a:solidFill>
            <a:srgbClr val="C9A961">
              <a:alpha val="5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365760" y="33375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C7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6118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~ 10 倍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65760" y="4160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中等保守估算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0440" y="1554480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年化收益分解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20440" y="1920240"/>
            <a:ext cx="5257800" cy="411480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19" name="Shape 17"/>
          <p:cNvSpPr/>
          <p:nvPr/>
        </p:nvSpPr>
        <p:spPr>
          <a:xfrm>
            <a:off x="3520440" y="1920240"/>
            <a:ext cx="54864" cy="411480"/>
          </a:xfrm>
          <a:prstGeom prst="rect">
            <a:avLst/>
          </a:prstGeom>
          <a:solidFill>
            <a:srgbClr val="1565D8"/>
          </a:solidFill>
        </p:spPr>
      </p:sp>
      <p:sp>
        <p:nvSpPr>
          <p:cNvPr id="20" name="Text 18"/>
          <p:cNvSpPr/>
          <p:nvPr/>
        </p:nvSpPr>
        <p:spPr>
          <a:xfrm>
            <a:off x="3657600" y="193852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小微尽调人力节省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0" y="2130552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 人 × 20 万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75120" y="19202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565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约 400 万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20440" y="2377440"/>
            <a:ext cx="5257800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3520440" y="2377440"/>
            <a:ext cx="54864" cy="411480"/>
          </a:xfrm>
          <a:prstGeom prst="rect">
            <a:avLst/>
          </a:prstGeom>
          <a:solidFill>
            <a:srgbClr val="1565D8"/>
          </a:solidFill>
        </p:spPr>
      </p:sp>
      <p:sp>
        <p:nvSpPr>
          <p:cNvPr id="25" name="Text 23"/>
          <p:cNvSpPr/>
          <p:nvPr/>
        </p:nvSpPr>
        <p:spPr>
          <a:xfrm>
            <a:off x="3657600" y="239572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小微尽调流程降本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0" y="2587752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2,700 元/户 × 2,000 户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0" y="23774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565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约 540 万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20440" y="2834640"/>
            <a:ext cx="5257800" cy="411480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29" name="Shape 27"/>
          <p:cNvSpPr/>
          <p:nvPr/>
        </p:nvSpPr>
        <p:spPr>
          <a:xfrm>
            <a:off x="3520440" y="2834640"/>
            <a:ext cx="54864" cy="411480"/>
          </a:xfrm>
          <a:prstGeom prst="rect">
            <a:avLst/>
          </a:prstGeom>
          <a:solidFill>
            <a:srgbClr val="1565D8"/>
          </a:solidFill>
        </p:spPr>
      </p:sp>
      <p:sp>
        <p:nvSpPr>
          <p:cNvPr id="30" name="Text 28"/>
          <p:cNvSpPr/>
          <p:nvPr/>
        </p:nvSpPr>
        <p:spPr>
          <a:xfrm>
            <a:off x="3657600" y="285292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个体户尽调降本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0" y="3044952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1,100 元/户 × 5,000 户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75120" y="28346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565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约 550 万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520440" y="3291840"/>
            <a:ext cx="5257800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Shape 32"/>
          <p:cNvSpPr/>
          <p:nvPr/>
        </p:nvSpPr>
        <p:spPr>
          <a:xfrm>
            <a:off x="3520440" y="3291840"/>
            <a:ext cx="54864" cy="411480"/>
          </a:xfrm>
          <a:prstGeom prst="rect">
            <a:avLst/>
          </a:prstGeom>
          <a:solidFill>
            <a:srgbClr val="E84855"/>
          </a:solidFill>
        </p:spPr>
      </p:sp>
      <p:sp>
        <p:nvSpPr>
          <p:cNvPr id="35" name="Text 33"/>
          <p:cNvSpPr/>
          <p:nvPr/>
        </p:nvSpPr>
        <p:spPr>
          <a:xfrm>
            <a:off x="3657600" y="331012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欺诈不良损失节省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0" y="3502152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0.9pp × 30 亿授信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75120" y="32918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48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约 2,700 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520440" y="3749040"/>
            <a:ext cx="5257800" cy="411480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39" name="Shape 37"/>
          <p:cNvSpPr/>
          <p:nvPr/>
        </p:nvSpPr>
        <p:spPr>
          <a:xfrm>
            <a:off x="3520440" y="3749040"/>
            <a:ext cx="54864" cy="41148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40" name="Text 38"/>
          <p:cNvSpPr/>
          <p:nvPr/>
        </p:nvSpPr>
        <p:spPr>
          <a:xfrm>
            <a:off x="3657600" y="376732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客户覆盖增量收入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57600" y="3959352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客户覆盖能力提升 10×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675120" y="37490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2,000-5,000 万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520440" y="4206240"/>
            <a:ext cx="5257800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Shape 42"/>
          <p:cNvSpPr/>
          <p:nvPr/>
        </p:nvSpPr>
        <p:spPr>
          <a:xfrm>
            <a:off x="3520440" y="4206240"/>
            <a:ext cx="54864" cy="41148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45" name="Text 43"/>
          <p:cNvSpPr/>
          <p:nvPr/>
        </p:nvSpPr>
        <p:spPr>
          <a:xfrm>
            <a:off x="3657600" y="422452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平台年成本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657600" y="4416552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SaaS订阅+数据+实施服务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675120" y="42062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300-500 万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65760" y="4736592"/>
            <a:ext cx="8412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* 静态测算,未计入 MPA 考核间接价值与品牌价值。具体效果因银行客群结构、数据可用性、流程改造深度而异。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28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743200" cy="51435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7772400" y="1371600"/>
            <a:ext cx="1828800" cy="2286000"/>
          </a:xfrm>
          <a:prstGeom prst="rect">
            <a:avLst/>
          </a:prstGeom>
          <a:solidFill>
            <a:srgbClr val="C9A961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128016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48640" cy="54864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6" name="Text 4"/>
          <p:cNvSpPr/>
          <p:nvPr/>
        </p:nvSpPr>
        <p:spPr>
          <a:xfrm>
            <a:off x="548640" y="30632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产品架构与技术能力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5C7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Architecture · 四层架构 · 26个Agent · 五维评分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3.1 产品架构 · 四层架构总览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4831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四层架构 — 数据 · 模型 · Agent · 应用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每一层独立可替换升级,银行可全栈采购,亦可仅采购上层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08760"/>
            <a:ext cx="8412480" cy="667512"/>
          </a:xfrm>
          <a:prstGeom prst="rect">
            <a:avLst/>
          </a:prstGeom>
          <a:solidFill>
            <a:srgbClr val="FFFFFF"/>
          </a:solidFill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365760" y="1508760"/>
            <a:ext cx="1645920" cy="667512"/>
          </a:xfrm>
          <a:prstGeom prst="rect">
            <a:avLst/>
          </a:prstGeom>
          <a:solidFill>
            <a:srgbClr val="C9A961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7335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508760"/>
            <a:ext cx="105156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应用层</a:t>
            </a:r>
            <a:endParaRPr lang="en-US" sz="13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194560" y="15544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核心组件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194560" y="175564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贷前申请 · 贷中审批 · 贷后管理 · 催收处置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银行价值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400800" y="175564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覆盖信贷全周期 · SaaS化使用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2267712"/>
            <a:ext cx="8412480" cy="667512"/>
          </a:xfrm>
          <a:prstGeom prst="rect">
            <a:avLst/>
          </a:prstGeom>
          <a:solidFill>
            <a:srgbClr val="FFFFFF"/>
          </a:solidFill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txBody>
          <a:bodyPr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365760" y="2267712"/>
            <a:ext cx="1645920" cy="667512"/>
          </a:xfrm>
          <a:prstGeom prst="rect">
            <a:avLst/>
          </a:prstGeom>
          <a:solidFill>
            <a:srgbClr val="1565D8"/>
          </a:solidFill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32304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14400" y="2267712"/>
            <a:ext cx="105156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层</a:t>
            </a:r>
            <a:endParaRPr lang="en-US" sz="13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Orchestration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194560" y="23134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核心组件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2194560" y="25146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26个专业Agent (法人版18 + 个体户版8) · SDAFI编排引擎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400800" y="23134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银行价值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400800" y="251460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自主分析、综合判断、报告生成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65760" y="3026664"/>
            <a:ext cx="8412480" cy="667512"/>
          </a:xfrm>
          <a:prstGeom prst="rect">
            <a:avLst/>
          </a:prstGeom>
          <a:solidFill>
            <a:srgbClr val="FFFFFF"/>
          </a:solidFill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</p:sp>
      <p:sp>
        <p:nvSpPr>
          <p:cNvPr id="25" name="Shape 21"/>
          <p:cNvSpPr/>
          <p:nvPr/>
        </p:nvSpPr>
        <p:spPr>
          <a:xfrm>
            <a:off x="365760" y="3026664"/>
            <a:ext cx="1645920" cy="667512"/>
          </a:xfrm>
          <a:prstGeom prst="rect">
            <a:avLst/>
          </a:prstGeom>
          <a:solidFill>
            <a:srgbClr val="4A90E2"/>
          </a:solidFill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91256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4400" y="3026664"/>
            <a:ext cx="105156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模型层</a:t>
            </a:r>
            <a:endParaRPr lang="en-US" sz="13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Model Layer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2194560" y="307238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核心组件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2194560" y="327355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五维评分 + 五对交叉验证 + 行业模型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400800" y="307238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银行价值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6400800" y="327355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经过实践检验的风控逻辑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365760" y="3785616"/>
            <a:ext cx="8412480" cy="667512"/>
          </a:xfrm>
          <a:prstGeom prst="rect">
            <a:avLst/>
          </a:prstGeom>
          <a:solidFill>
            <a:srgbClr val="FFFFFF"/>
          </a:solidFill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</p:sp>
      <p:sp>
        <p:nvSpPr>
          <p:cNvPr id="33" name="Shape 28"/>
          <p:cNvSpPr/>
          <p:nvPr/>
        </p:nvSpPr>
        <p:spPr>
          <a:xfrm>
            <a:off x="365760" y="3785616"/>
            <a:ext cx="1645920" cy="667512"/>
          </a:xfrm>
          <a:prstGeom prst="rect">
            <a:avLst/>
          </a:prstGeom>
          <a:solidFill>
            <a:srgbClr val="1E3A5F"/>
          </a:solidFill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50208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14400" y="3785616"/>
            <a:ext cx="105156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数据层</a:t>
            </a:r>
            <a:endParaRPr lang="en-US" sz="13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2194560" y="38313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核心组件</a:t>
            </a:r>
            <a:endParaRPr lang="en-US" sz="750" dirty="0"/>
          </a:p>
        </p:txBody>
      </p:sp>
      <p:sp>
        <p:nvSpPr>
          <p:cNvPr id="37" name="Text 31"/>
          <p:cNvSpPr/>
          <p:nvPr/>
        </p:nvSpPr>
        <p:spPr>
          <a:xfrm>
            <a:off x="2194560" y="403250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公共数据(正菱) + 行业数据 + 企业数据 + 个人数据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6400800" y="38313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银行价值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6400800" y="403250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300+数据维度 · 银行无需自建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⬆ 数据驱动 · 模型沉淀 · Agent协同 · 应用交付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/ 28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3.2 产品架构 · 数据层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5466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数据层:公共数据要素底座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673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与珠海正菱深度合作 · 国资合规数据基础设施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2697480" cy="777240"/>
          </a:xfrm>
          <a:prstGeom prst="rect">
            <a:avLst/>
          </a:prstGeom>
          <a:solidFill>
            <a:srgbClr val="FAFBFC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27632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783080" y="1627632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大数据类目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2697480" cy="777240"/>
          </a:xfrm>
          <a:prstGeom prst="rect">
            <a:avLst/>
          </a:prstGeom>
          <a:solidFill>
            <a:srgbClr val="FAFBFC"/>
          </a:solidFill>
          <a:ln w="12700">
            <a:solidFill>
              <a:srgbClr val="1565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627632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323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1627632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 接口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697480" cy="777240"/>
          </a:xfrm>
          <a:prstGeom prst="rect">
            <a:avLst/>
          </a:prstGeom>
          <a:solidFill>
            <a:srgbClr val="FAFBFC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627632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A8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5,000+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52360" y="1627632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数据字段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46888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数据资源全景 · 18大类核心数据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155448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9" name="Text 17"/>
          <p:cNvSpPr/>
          <p:nvPr/>
        </p:nvSpPr>
        <p:spPr>
          <a:xfrm>
            <a:off x="365760" y="283464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数据大类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0240" y="2834640"/>
            <a:ext cx="86868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21" name="Text 19"/>
          <p:cNvSpPr/>
          <p:nvPr/>
        </p:nvSpPr>
        <p:spPr>
          <a:xfrm>
            <a:off x="1920240" y="283464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API数量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88920" y="2834640"/>
            <a:ext cx="393192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23" name="Text 21"/>
          <p:cNvSpPr/>
          <p:nvPr/>
        </p:nvSpPr>
        <p:spPr>
          <a:xfrm>
            <a:off x="2788920" y="283464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核心字段示例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2834640"/>
            <a:ext cx="205740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25" name="Text 23"/>
          <p:cNvSpPr/>
          <p:nvPr/>
        </p:nvSpPr>
        <p:spPr>
          <a:xfrm>
            <a:off x="6720840" y="283464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授权要求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127248"/>
            <a:ext cx="8412480" cy="246888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27" name="Text 25"/>
          <p:cNvSpPr/>
          <p:nvPr/>
        </p:nvSpPr>
        <p:spPr>
          <a:xfrm>
            <a:off x="365760" y="3127248"/>
            <a:ext cx="1554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工商综合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20240" y="3127248"/>
            <a:ext cx="8686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88920" y="3127248"/>
            <a:ext cx="3931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照面/股东/高管/年报/分支/异常 等20+维度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3127248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无需(公开数据)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374136"/>
            <a:ext cx="8412480" cy="2468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365760" y="3374136"/>
            <a:ext cx="1554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司法涉诉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20240" y="3374136"/>
            <a:ext cx="8686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88920" y="3374136"/>
            <a:ext cx="3931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失信/限高/破产/裁判文书/开庭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20840" y="3374136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无需 / 个人授权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621024"/>
            <a:ext cx="8412480" cy="246888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37" name="Text 35"/>
          <p:cNvSpPr/>
          <p:nvPr/>
        </p:nvSpPr>
        <p:spPr>
          <a:xfrm>
            <a:off x="365760" y="3621024"/>
            <a:ext cx="1554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企业财税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0240" y="3621024"/>
            <a:ext cx="8686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88920" y="3621024"/>
            <a:ext cx="3931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三大报表/发票/纳税/财税分析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0840" y="3621024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需企业授权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867912"/>
            <a:ext cx="8412480" cy="2468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Text 40"/>
          <p:cNvSpPr/>
          <p:nvPr/>
        </p:nvSpPr>
        <p:spPr>
          <a:xfrm>
            <a:off x="365760" y="3867912"/>
            <a:ext cx="1554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企业用电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920240" y="3867912"/>
            <a:ext cx="8686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(90字段)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88920" y="3867912"/>
            <a:ext cx="3931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稳定性/增长率/停电/减容预警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20840" y="3867912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需企业授权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114800"/>
            <a:ext cx="8412480" cy="246888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47" name="Text 45"/>
          <p:cNvSpPr/>
          <p:nvPr/>
        </p:nvSpPr>
        <p:spPr>
          <a:xfrm>
            <a:off x="365760" y="4114800"/>
            <a:ext cx="1554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反欺诈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920240" y="4114800"/>
            <a:ext cx="8686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88920" y="4114800"/>
            <a:ext cx="3931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羊毛党/风险手机/涉赌涉诈/黑名单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720840" y="4114800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需个人授权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" y="4361688"/>
            <a:ext cx="8412480" cy="2468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2" name="Text 50"/>
          <p:cNvSpPr/>
          <p:nvPr/>
        </p:nvSpPr>
        <p:spPr>
          <a:xfrm>
            <a:off x="365760" y="4361688"/>
            <a:ext cx="1554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要素核验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920240" y="4361688"/>
            <a:ext cx="8686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59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788920" y="4361688"/>
            <a:ext cx="3931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身份/手机/银行卡多要素核验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720840" y="4361688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需个人授权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4626864"/>
            <a:ext cx="8412480" cy="27432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7" name="Text 55"/>
          <p:cNvSpPr/>
          <p:nvPr/>
        </p:nvSpPr>
        <p:spPr>
          <a:xfrm>
            <a:off x="365760" y="46268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数据使用三原则:✓ 最小必要   ✓ 明示授权   ✓ 全程留痕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/ 28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3.3 产品架构 · 模型层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4196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模型层:五维评分模型(法人小微版)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五个相互独立的维度,共同构成法人小微的信用画像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1554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54480"/>
            <a:ext cx="1554480" cy="77724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0" name="Text 8"/>
          <p:cNvSpPr/>
          <p:nvPr/>
        </p:nvSpPr>
        <p:spPr>
          <a:xfrm>
            <a:off x="365760" y="162763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维度一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经营稳定性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423160"/>
            <a:ext cx="914400" cy="548640"/>
          </a:xfrm>
          <a:prstGeom prst="rect">
            <a:avLst/>
          </a:prstGeom>
          <a:solidFill>
            <a:srgbClr val="FAFBFC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231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5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" y="303580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权重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3291840"/>
            <a:ext cx="13258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注册年限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纳税信用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社保人数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用电稳定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招聘活跃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57400" y="1554480"/>
            <a:ext cx="1554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57400" y="1554480"/>
            <a:ext cx="1554480" cy="777240"/>
          </a:xfrm>
          <a:prstGeom prst="rect">
            <a:avLst/>
          </a:prstGeom>
          <a:solidFill>
            <a:srgbClr val="1565D8"/>
          </a:solidFill>
        </p:spPr>
      </p:sp>
      <p:sp>
        <p:nvSpPr>
          <p:cNvPr id="18" name="Text 16"/>
          <p:cNvSpPr/>
          <p:nvPr/>
        </p:nvSpPr>
        <p:spPr>
          <a:xfrm>
            <a:off x="2057400" y="162763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维度二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57400" y="18745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财务健康度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377440" y="2423160"/>
            <a:ext cx="914400" cy="548640"/>
          </a:xfrm>
          <a:prstGeom prst="rect">
            <a:avLst/>
          </a:prstGeom>
          <a:solidFill>
            <a:srgbClr val="FAFBFC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24231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057400" y="303580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权重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94560" y="3291840"/>
            <a:ext cx="13258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资产负债率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净利率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营收增长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发票验证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现金流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49040" y="1554480"/>
            <a:ext cx="1554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49040" y="1554480"/>
            <a:ext cx="1554480" cy="77724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26" name="Text 24"/>
          <p:cNvSpPr/>
          <p:nvPr/>
        </p:nvSpPr>
        <p:spPr>
          <a:xfrm>
            <a:off x="3749040" y="162763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维度三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749040" y="18745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履约能力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069080" y="2423160"/>
            <a:ext cx="914400" cy="548640"/>
          </a:xfrm>
          <a:prstGeom prst="rect">
            <a:avLst/>
          </a:prstGeom>
          <a:solidFill>
            <a:srgbClr val="FAFBFC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24231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749040" y="303580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权重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86200" y="3291840"/>
            <a:ext cx="13258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招投标中标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反欺诈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多头借贷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融资历史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资产验证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40680" y="1554480"/>
            <a:ext cx="1554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40680" y="1554480"/>
            <a:ext cx="1554480" cy="777240"/>
          </a:xfrm>
          <a:prstGeom prst="rect">
            <a:avLst/>
          </a:prstGeom>
          <a:solidFill>
            <a:srgbClr val="E84855"/>
          </a:solidFill>
        </p:spPr>
      </p:sp>
      <p:sp>
        <p:nvSpPr>
          <p:cNvPr id="34" name="Text 32"/>
          <p:cNvSpPr/>
          <p:nvPr/>
        </p:nvSpPr>
        <p:spPr>
          <a:xfrm>
            <a:off x="5440680" y="162763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维度四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40680" y="18745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合规性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760720" y="2423160"/>
            <a:ext cx="914400" cy="548640"/>
          </a:xfrm>
          <a:prstGeom prst="rect">
            <a:avLst/>
          </a:prstGeom>
          <a:solidFill>
            <a:srgbClr val="FAFBFC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4231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8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440680" y="303580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权重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577840" y="3291840"/>
            <a:ext cx="13258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涉诉处罚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风险标签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空壳判定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法人合规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32320" y="1554480"/>
            <a:ext cx="1554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32320" y="1554480"/>
            <a:ext cx="1554480" cy="777240"/>
          </a:xfrm>
          <a:prstGeom prst="rect">
            <a:avLst/>
          </a:prstGeom>
          <a:solidFill>
            <a:srgbClr val="00A86B"/>
          </a:solidFill>
        </p:spPr>
      </p:sp>
      <p:sp>
        <p:nvSpPr>
          <p:cNvPr id="42" name="Text 40"/>
          <p:cNvSpPr/>
          <p:nvPr/>
        </p:nvSpPr>
        <p:spPr>
          <a:xfrm>
            <a:off x="7132320" y="162763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维度五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132320" y="18745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成长性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452360" y="2423160"/>
            <a:ext cx="914400" cy="548640"/>
          </a:xfrm>
          <a:prstGeom prst="rect">
            <a:avLst/>
          </a:prstGeom>
          <a:solidFill>
            <a:srgbClr val="FAFBFC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24231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5%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132320" y="303580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权重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269480" y="3291840"/>
            <a:ext cx="13258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知识产权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对外投资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产能增长</a:t>
            </a:r>
            <a:endParaRPr lang="en-US" sz="9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外部评级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/ 28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3.3 产品架构 · 五对交叉验证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4196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五对交叉验证 — 识别单维评分难以察觉的造假信号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每对验证从两个独立数据源比对同一事实,识别风险闭环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8412480" cy="475488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18488"/>
            <a:ext cx="1371600" cy="347472"/>
          </a:xfrm>
          <a:prstGeom prst="rect">
            <a:avLst/>
          </a:prstGeom>
          <a:solidFill>
            <a:srgbClr val="1565D8"/>
          </a:solidFill>
        </p:spPr>
      </p:sp>
      <p:sp>
        <p:nvSpPr>
          <p:cNvPr id="10" name="Text 8"/>
          <p:cNvSpPr/>
          <p:nvPr/>
        </p:nvSpPr>
        <p:spPr>
          <a:xfrm>
            <a:off x="457200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纳税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74520" y="1618488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×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286000" y="1618488"/>
            <a:ext cx="1371600" cy="347472"/>
          </a:xfrm>
          <a:prstGeom prst="rect">
            <a:avLst/>
          </a:prstGeom>
          <a:solidFill>
            <a:srgbClr val="1565D8"/>
          </a:solidFill>
        </p:spPr>
      </p:sp>
      <p:sp>
        <p:nvSpPr>
          <p:cNvPr id="13" name="Text 11"/>
          <p:cNvSpPr/>
          <p:nvPr/>
        </p:nvSpPr>
        <p:spPr>
          <a:xfrm>
            <a:off x="2286000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160020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异常信号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40480" y="17647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偏差 &gt; 40%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160020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对应风险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943600" y="176479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财务造假 / 经营异动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103120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167128"/>
            <a:ext cx="1371600" cy="347472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20" name="Text 18"/>
          <p:cNvSpPr/>
          <p:nvPr/>
        </p:nvSpPr>
        <p:spPr>
          <a:xfrm>
            <a:off x="457200" y="216712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74520" y="2167128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×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286000" y="2167128"/>
            <a:ext cx="1371600" cy="347472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23" name="Text 21"/>
          <p:cNvSpPr/>
          <p:nvPr/>
        </p:nvSpPr>
        <p:spPr>
          <a:xfrm>
            <a:off x="2286000" y="216712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营收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214884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异常信号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40480" y="231343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差异 &gt; 30%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214884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对应风险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43600" y="231343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粉饰报表 / 虚开发票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651760"/>
            <a:ext cx="8412480" cy="475488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715768"/>
            <a:ext cx="1371600" cy="347472"/>
          </a:xfrm>
          <a:prstGeom prst="rect">
            <a:avLst/>
          </a:prstGeom>
          <a:solidFill>
            <a:srgbClr val="00A86B"/>
          </a:solidFill>
        </p:spPr>
      </p:sp>
      <p:sp>
        <p:nvSpPr>
          <p:cNvPr id="30" name="Text 28"/>
          <p:cNvSpPr/>
          <p:nvPr/>
        </p:nvSpPr>
        <p:spPr>
          <a:xfrm>
            <a:off x="457200" y="271576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社保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74520" y="2715768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×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286000" y="2715768"/>
            <a:ext cx="1371600" cy="347472"/>
          </a:xfrm>
          <a:prstGeom prst="rect">
            <a:avLst/>
          </a:prstGeom>
          <a:solidFill>
            <a:srgbClr val="00A86B"/>
          </a:solidFill>
        </p:spPr>
      </p:sp>
      <p:sp>
        <p:nvSpPr>
          <p:cNvPr id="33" name="Text 31"/>
          <p:cNvSpPr/>
          <p:nvPr/>
        </p:nvSpPr>
        <p:spPr>
          <a:xfrm>
            <a:off x="2286000" y="271576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80" y="269748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异常信号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840480" y="286207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差异 &gt; 50%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0" y="269748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对应风险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943600" y="286207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规模虚报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200400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264408"/>
            <a:ext cx="1371600" cy="347472"/>
          </a:xfrm>
          <a:prstGeom prst="rect">
            <a:avLst/>
          </a:prstGeom>
          <a:solidFill>
            <a:srgbClr val="E84855"/>
          </a:solidFill>
        </p:spPr>
      </p:sp>
      <p:sp>
        <p:nvSpPr>
          <p:cNvPr id="40" name="Text 38"/>
          <p:cNvSpPr/>
          <p:nvPr/>
        </p:nvSpPr>
        <p:spPr>
          <a:xfrm>
            <a:off x="457200" y="326440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反欺诈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874520" y="3264408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×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2286000" y="3264408"/>
            <a:ext cx="1371600" cy="347472"/>
          </a:xfrm>
          <a:prstGeom prst="rect">
            <a:avLst/>
          </a:prstGeom>
          <a:solidFill>
            <a:srgbClr val="E84855"/>
          </a:solidFill>
        </p:spPr>
      </p:sp>
      <p:sp>
        <p:nvSpPr>
          <p:cNvPr id="43" name="Text 41"/>
          <p:cNvSpPr/>
          <p:nvPr/>
        </p:nvSpPr>
        <p:spPr>
          <a:xfrm>
            <a:off x="2286000" y="326440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发票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840480" y="324612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异常信号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840480" y="34107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闭环交易 &gt; 20%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600" y="324612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对应风险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943600" y="341071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虚构贸易 / 关联交易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3749040"/>
            <a:ext cx="8412480" cy="475488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3813048"/>
            <a:ext cx="1371600" cy="34747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50" name="Text 48"/>
          <p:cNvSpPr/>
          <p:nvPr/>
        </p:nvSpPr>
        <p:spPr>
          <a:xfrm>
            <a:off x="457200" y="381304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多头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874520" y="3813048"/>
            <a:ext cx="365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×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2286000" y="3813048"/>
            <a:ext cx="1371600" cy="347472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53" name="Text 51"/>
          <p:cNvSpPr/>
          <p:nvPr/>
        </p:nvSpPr>
        <p:spPr>
          <a:xfrm>
            <a:off x="2286000" y="381304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融资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840480" y="379476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异常信号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840480" y="395935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高频低批准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943600" y="379476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对应风险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943600" y="395935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资金链紧张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370832"/>
            <a:ext cx="8412480" cy="50292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59" name="Text 57"/>
          <p:cNvSpPr/>
          <p:nvPr/>
        </p:nvSpPr>
        <p:spPr>
          <a:xfrm>
            <a:off x="365760" y="4370832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实战价值: </a:t>
            </a: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50,000+ 样本回测中,交叉验证识别的高风险样本违约率 </a:t>
            </a:r>
            <a:r>
              <a:rPr lang="en-US" sz="12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8.7%</a:t>
            </a: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,对照组仅 </a:t>
            </a:r>
            <a:r>
              <a:rPr lang="en-US" sz="12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0.4%</a:t>
            </a: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— 风险密度 20× 提升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 / 28</a:t>
            </a:r>
            <a:endParaRPr lang="en-US" sz="800" dirty="0"/>
          </a:p>
        </p:txBody>
      </p:sp>
      <p:sp>
        <p:nvSpPr>
          <p:cNvPr id="63" name="文本框 62"/>
          <p:cNvSpPr txBox="1"/>
          <p:nvPr/>
        </p:nvSpPr>
        <p:spPr>
          <a:xfrm>
            <a:off x="4921250" y="513715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3.4 产品架构 · Agent层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5466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层:XX 个专业智能体团队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 Agent 对应人类客户经理的一项专业能力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4937760" cy="329184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54480"/>
            <a:ext cx="4937760" cy="50292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0" name="Text 8"/>
          <p:cNvSpPr/>
          <p:nvPr/>
        </p:nvSpPr>
        <p:spPr>
          <a:xfrm>
            <a:off x="548640" y="155448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法人版  XX </a:t>
            </a:r>
            <a:r>
              <a:rPr lang="en-US" sz="16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15544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E5C7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Legal Entity Agents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148840"/>
            <a:ext cx="466344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594360" y="2212848"/>
            <a:ext cx="777240" cy="310896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14" name="Text 12"/>
          <p:cNvSpPr/>
          <p:nvPr/>
        </p:nvSpPr>
        <p:spPr>
          <a:xfrm>
            <a:off x="594360" y="2212848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5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A01-A02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463040" y="217627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核心风险点 / 授信结构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237744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⟶  信审委员秘书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466344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594360" y="2715768"/>
            <a:ext cx="777240" cy="310896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19" name="Text 17"/>
          <p:cNvSpPr/>
          <p:nvPr/>
        </p:nvSpPr>
        <p:spPr>
          <a:xfrm>
            <a:off x="594360" y="2715768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5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A03-A06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63040" y="267919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企业沿革 / 商业模式 / 实控人 / 关联方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288036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⟶  公司金融客户经理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3154680"/>
            <a:ext cx="466344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Shape 21"/>
          <p:cNvSpPr/>
          <p:nvPr/>
        </p:nvSpPr>
        <p:spPr>
          <a:xfrm>
            <a:off x="594360" y="3218688"/>
            <a:ext cx="777240" cy="310896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24" name="Text 22"/>
          <p:cNvSpPr/>
          <p:nvPr/>
        </p:nvSpPr>
        <p:spPr>
          <a:xfrm>
            <a:off x="594360" y="3218688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5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A07-A10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63040" y="318211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 / 政策 / 上下游 / SWOT 分析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63040" y="33832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⟶  行业研究员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3657600"/>
            <a:ext cx="466344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Shape 26"/>
          <p:cNvSpPr/>
          <p:nvPr/>
        </p:nvSpPr>
        <p:spPr>
          <a:xfrm>
            <a:off x="594360" y="3721608"/>
            <a:ext cx="777240" cy="310896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29" name="Text 27"/>
          <p:cNvSpPr/>
          <p:nvPr/>
        </p:nvSpPr>
        <p:spPr>
          <a:xfrm>
            <a:off x="594360" y="3721608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5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A11-A15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463040" y="36850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资产负债 / 盈利 / 现金流 / 发票 / 财务诊断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388620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⟶  财务分析师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4160520"/>
            <a:ext cx="466344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Shape 31"/>
          <p:cNvSpPr/>
          <p:nvPr/>
        </p:nvSpPr>
        <p:spPr>
          <a:xfrm>
            <a:off x="594360" y="4224528"/>
            <a:ext cx="777240" cy="310896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34" name="Text 32"/>
          <p:cNvSpPr/>
          <p:nvPr/>
        </p:nvSpPr>
        <p:spPr>
          <a:xfrm>
            <a:off x="594360" y="4224528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5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A16-A18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463040" y="418795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交叉验证 / 还款能力 / 风险地图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463040" y="43891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⟶  风控总监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0" y="1554480"/>
            <a:ext cx="3291840" cy="329184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0" y="1554480"/>
            <a:ext cx="3291840" cy="50292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39" name="Text 37"/>
          <p:cNvSpPr/>
          <p:nvPr/>
        </p:nvSpPr>
        <p:spPr>
          <a:xfrm>
            <a:off x="5623560" y="155448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个体户版  XX</a:t>
            </a:r>
            <a:r>
              <a:rPr lang="en-US" sz="1500" b="1" dirty="0">
                <a:solidFill>
                  <a:srgbClr val="06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个 Agent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623560" y="2148840"/>
            <a:ext cx="3017520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5669280" y="2148840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A01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63640" y="214884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核心风险点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818120" y="2148840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审批官秘书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623560" y="2514600"/>
            <a:ext cx="3017520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5669280" y="2514600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A02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63640" y="251460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经营者画像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818120" y="2514600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客户经理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623560" y="2880360"/>
            <a:ext cx="3017520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5669280" y="2880360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A03-04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63640" y="288036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经营真实性 / 店铺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818120" y="2880360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实地走访员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623560" y="3246120"/>
            <a:ext cx="3017520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5669280" y="3246120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A05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63640" y="324612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还款来源测算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818120" y="3246120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审批官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23560" y="3611880"/>
            <a:ext cx="3017520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5669280" y="3611880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A06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263640" y="361188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反欺诈综合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818120" y="3611880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反欺诈专员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623560" y="3977640"/>
            <a:ext cx="3017520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1" name="Text 59"/>
          <p:cNvSpPr/>
          <p:nvPr/>
        </p:nvSpPr>
        <p:spPr>
          <a:xfrm>
            <a:off x="5669280" y="3977640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A07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263640" y="397764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风险地图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818120" y="3977640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风控经理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623560" y="4343400"/>
            <a:ext cx="3017520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5" name="Text 63"/>
          <p:cNvSpPr/>
          <p:nvPr/>
        </p:nvSpPr>
        <p:spPr>
          <a:xfrm>
            <a:off x="5669280" y="4343400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A08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263640" y="434340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行业景气分析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818120" y="4343400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行业研究员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69" name="Text 67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6阶段并行流水线编排  ·  法人版报告 8-12 分钟  ·  个体户版 4-6 分钟  ·  原人工 2-3 天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 / 28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3.4 产品架构 · Agent工作机制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2291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 Agent 工作机制详解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案例:LE-A05 实控人画像 Agent · 模拟资深客户经理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640080" cy="32004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9" name="Text 7"/>
          <p:cNvSpPr/>
          <p:nvPr/>
        </p:nvSpPr>
        <p:spPr>
          <a:xfrm>
            <a:off x="365760" y="155448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1554480"/>
            <a:ext cx="2286000" cy="32004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1" name="Text 9"/>
          <p:cNvSpPr/>
          <p:nvPr/>
        </p:nvSpPr>
        <p:spPr>
          <a:xfrm>
            <a:off x="1005840" y="1554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3200400" cy="32004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3" name="Text 11"/>
          <p:cNvSpPr/>
          <p:nvPr/>
        </p:nvSpPr>
        <p:spPr>
          <a:xfrm>
            <a:off x="3291840" y="15544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调用的 API / 工具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1554480"/>
            <a:ext cx="2286000" cy="32004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5" name="Text 13"/>
          <p:cNvSpPr/>
          <p:nvPr/>
        </p:nvSpPr>
        <p:spPr>
          <a:xfrm>
            <a:off x="6492240" y="1554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874520"/>
            <a:ext cx="8412480" cy="310896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17" name="Shape 15"/>
          <p:cNvSpPr/>
          <p:nvPr/>
        </p:nvSpPr>
        <p:spPr>
          <a:xfrm>
            <a:off x="777240" y="1920240"/>
            <a:ext cx="219456" cy="219456"/>
          </a:xfrm>
          <a:prstGeom prst="ellipse">
            <a:avLst/>
          </a:prstGeom>
          <a:solidFill>
            <a:srgbClr val="C9A961"/>
          </a:solidFill>
        </p:spPr>
      </p:sp>
      <p:sp>
        <p:nvSpPr>
          <p:cNvPr id="18" name="Text 16"/>
          <p:cNvSpPr/>
          <p:nvPr/>
        </p:nvSpPr>
        <p:spPr>
          <a:xfrm>
            <a:off x="777240" y="192024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187452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采集法人基础信息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187452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身份二要素核验 + 手机号综合认证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187452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565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身份核验结果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203704"/>
            <a:ext cx="8412480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Shape 21"/>
          <p:cNvSpPr/>
          <p:nvPr/>
        </p:nvSpPr>
        <p:spPr>
          <a:xfrm>
            <a:off x="777240" y="2249424"/>
            <a:ext cx="219456" cy="219456"/>
          </a:xfrm>
          <a:prstGeom prst="ellipse">
            <a:avLst/>
          </a:prstGeom>
          <a:solidFill>
            <a:srgbClr val="C9A961"/>
          </a:solidFill>
        </p:spPr>
      </p:sp>
      <p:sp>
        <p:nvSpPr>
          <p:cNvPr id="24" name="Text 22"/>
          <p:cNvSpPr/>
          <p:nvPr/>
        </p:nvSpPr>
        <p:spPr>
          <a:xfrm>
            <a:off x="777240" y="224942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220370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查询法人涉诉历史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2203704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个人综合涉诉(全量+模型)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220370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565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涉诉案件清单 + 风险等级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532888"/>
            <a:ext cx="8412480" cy="310896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29" name="Shape 27"/>
          <p:cNvSpPr/>
          <p:nvPr/>
        </p:nvSpPr>
        <p:spPr>
          <a:xfrm>
            <a:off x="777240" y="2578608"/>
            <a:ext cx="219456" cy="219456"/>
          </a:xfrm>
          <a:prstGeom prst="ellipse">
            <a:avLst/>
          </a:prstGeom>
          <a:solidFill>
            <a:srgbClr val="C9A961"/>
          </a:solidFill>
        </p:spPr>
      </p:sp>
      <p:sp>
        <p:nvSpPr>
          <p:cNvPr id="30" name="Text 28"/>
          <p:cNvSpPr/>
          <p:nvPr/>
        </p:nvSpPr>
        <p:spPr>
          <a:xfrm>
            <a:off x="777240" y="257860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253288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查询法人对外投资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2532888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法定代表人对外投资 + 任职查询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253288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565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关联企业列表 + 任职情况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862072"/>
            <a:ext cx="8412480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5" name="Shape 33"/>
          <p:cNvSpPr/>
          <p:nvPr/>
        </p:nvSpPr>
        <p:spPr>
          <a:xfrm>
            <a:off x="777240" y="2907792"/>
            <a:ext cx="219456" cy="219456"/>
          </a:xfrm>
          <a:prstGeom prst="ellipse">
            <a:avLst/>
          </a:prstGeom>
          <a:solidFill>
            <a:srgbClr val="C9A961"/>
          </a:solidFill>
        </p:spPr>
      </p:sp>
      <p:sp>
        <p:nvSpPr>
          <p:cNvPr id="36" name="Text 34"/>
          <p:cNvSpPr/>
          <p:nvPr/>
        </p:nvSpPr>
        <p:spPr>
          <a:xfrm>
            <a:off x="777240" y="290779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5840" y="2862072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查询法人限高失信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91840" y="2862072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限制高消费 + 失信公告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862072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565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个人不良信用记录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3191256"/>
            <a:ext cx="8412480" cy="310896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41" name="Shape 39"/>
          <p:cNvSpPr/>
          <p:nvPr/>
        </p:nvSpPr>
        <p:spPr>
          <a:xfrm>
            <a:off x="777240" y="3236976"/>
            <a:ext cx="219456" cy="219456"/>
          </a:xfrm>
          <a:prstGeom prst="ellipse">
            <a:avLst/>
          </a:prstGeom>
          <a:solidFill>
            <a:srgbClr val="C9A961"/>
          </a:solidFill>
        </p:spPr>
      </p:sp>
      <p:sp>
        <p:nvSpPr>
          <p:cNvPr id="42" name="Text 40"/>
          <p:cNvSpPr/>
          <p:nvPr/>
        </p:nvSpPr>
        <p:spPr>
          <a:xfrm>
            <a:off x="777240" y="323697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05840" y="3191256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推理:综合分析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91840" y="3191256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大模型推理(国产合规)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92240" y="3191256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565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结构化人物画像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3520440"/>
            <a:ext cx="8412480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7" name="Shape 45"/>
          <p:cNvSpPr/>
          <p:nvPr/>
        </p:nvSpPr>
        <p:spPr>
          <a:xfrm>
            <a:off x="777240" y="3566160"/>
            <a:ext cx="219456" cy="219456"/>
          </a:xfrm>
          <a:prstGeom prst="ellipse">
            <a:avLst/>
          </a:prstGeom>
          <a:solidFill>
            <a:srgbClr val="C9A961"/>
          </a:solidFill>
        </p:spPr>
      </p:sp>
      <p:sp>
        <p:nvSpPr>
          <p:cNvPr id="48" name="Text 46"/>
          <p:cNvSpPr/>
          <p:nvPr/>
        </p:nvSpPr>
        <p:spPr>
          <a:xfrm>
            <a:off x="777240" y="356616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05840" y="352044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输出:格式化报告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291840" y="352044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模板填充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92240" y="352044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565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段式画像报告 600-1000 字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FAFBFC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4023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关键能力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02920" y="4297680"/>
            <a:ext cx="8183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不仅仅是「调用 API + 拼接结果」,而是能基于多源数据做综合推理。例如,如果一个法人的对外投资全部是已注销企业、个人涉诉有 5 起以上民事案件、近期被限高 — Agent 会综合判断这是一个「连续创业失败 + 信用恶化中」的高风险法人,而非简单罗列数据。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 / 28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3.5 产品架构 · 应用层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2291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应用层:5 个 SKU 覆盖信贷全周期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可独立采购 · 可组合 · 灵活适配银行不同阶段需求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0876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08760"/>
            <a:ext cx="960120" cy="50292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10" name="Text 8"/>
          <p:cNvSpPr/>
          <p:nvPr/>
        </p:nvSpPr>
        <p:spPr>
          <a:xfrm>
            <a:off x="365760" y="150876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SKU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150876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智能征信报告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150876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授信尽调、信审会上会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35040" y="150876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50-500 元/份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818120" y="1618488"/>
            <a:ext cx="868680" cy="292608"/>
          </a:xfrm>
          <a:prstGeom prst="rect">
            <a:avLst/>
          </a:prstGeom>
          <a:solidFill>
            <a:srgbClr val="C9A961">
              <a:alpha val="25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1618488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103120"/>
            <a:ext cx="960120" cy="50292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18" name="Text 16"/>
          <p:cNvSpPr/>
          <p:nvPr/>
        </p:nvSpPr>
        <p:spPr>
          <a:xfrm>
            <a:off x="365760" y="210312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SKU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210312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贷中贷后智能</a:t>
            </a:r>
            <a:r>
              <a:rPr lang="zh-CN" alt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210312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存量客户风险监控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35040" y="210312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按存量户数订阅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18120" y="2212848"/>
            <a:ext cx="868680" cy="292608"/>
          </a:xfrm>
          <a:prstGeom prst="rect">
            <a:avLst/>
          </a:prstGeom>
          <a:solidFill>
            <a:srgbClr val="C9A961">
              <a:alpha val="25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2212848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69748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2697480"/>
            <a:ext cx="960120" cy="502920"/>
          </a:xfrm>
          <a:prstGeom prst="rect">
            <a:avLst/>
          </a:prstGeom>
          <a:solidFill>
            <a:srgbClr val="1565D8"/>
          </a:solidFill>
        </p:spPr>
      </p:sp>
      <p:sp>
        <p:nvSpPr>
          <p:cNvPr id="26" name="Text 24"/>
          <p:cNvSpPr/>
          <p:nvPr/>
        </p:nvSpPr>
        <p:spPr>
          <a:xfrm>
            <a:off x="365760" y="269748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SKU 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08760" y="269748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贷前智能审批 Agent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26974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线上化授信审批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35040" y="269748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按笔数+利息分润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818120" y="2807208"/>
            <a:ext cx="868680" cy="292608"/>
          </a:xfrm>
          <a:prstGeom prst="rect">
            <a:avLst/>
          </a:prstGeom>
          <a:solidFill>
            <a:srgbClr val="1565D8">
              <a:alpha val="25000"/>
            </a:srgbClr>
          </a:solidFill>
          <a:ln w="6350">
            <a:solidFill>
              <a:srgbClr val="1565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8120" y="2807208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第二阶段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29184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65760" y="3291840"/>
            <a:ext cx="960120" cy="5029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4" name="Text 32"/>
          <p:cNvSpPr/>
          <p:nvPr/>
        </p:nvSpPr>
        <p:spPr>
          <a:xfrm>
            <a:off x="365760" y="329184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SKU 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508760" y="32918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批量获客与白名单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49040" y="329184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普惠营销、增量拓展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35040" y="32918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白名单户数+转化分润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818120" y="3401568"/>
            <a:ext cx="868680" cy="292608"/>
          </a:xfrm>
          <a:prstGeom prst="rect">
            <a:avLst/>
          </a:prstGeom>
          <a:solidFill>
            <a:srgbClr val="1E3A5F">
              <a:alpha val="25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3401568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第三阶段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388620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886200"/>
            <a:ext cx="960120" cy="5029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42" name="Text 40"/>
          <p:cNvSpPr/>
          <p:nvPr/>
        </p:nvSpPr>
        <p:spPr>
          <a:xfrm>
            <a:off x="365760" y="388620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SKU 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508760" y="388620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智能催收处置 Agent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749040" y="38862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不良贷款催收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035040" y="388620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纯分润(回收金额×%)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818120" y="3995928"/>
            <a:ext cx="868680" cy="292608"/>
          </a:xfrm>
          <a:prstGeom prst="rect">
            <a:avLst/>
          </a:prstGeom>
          <a:solidFill>
            <a:srgbClr val="1E3A5F">
              <a:alpha val="25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18120" y="3995928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第三阶段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49" name="Text 47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推荐切入路径:SKU 1 + SKU 4 起步(合规风险低、价值直观)→ SKU 3(端到端审批)→ SKU 2 / SKU 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 / 28</a:t>
            </a:r>
            <a:endParaRPr lang="en-US" sz="800" dirty="0"/>
          </a:p>
        </p:txBody>
      </p:sp>
      <p:sp>
        <p:nvSpPr>
          <p:cNvPr id="52" name="文本框 51"/>
          <p:cNvSpPr txBox="1"/>
          <p:nvPr/>
        </p:nvSpPr>
        <p:spPr>
          <a:xfrm>
            <a:off x="152400" y="2032000"/>
            <a:ext cx="1560830" cy="574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3.6 产品架构 · SDAFI方法论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6736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SDAFI 方法论 — AI Agent 持续进化的闭环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Sense → Decide → Act → Feedback → Improve · 五阶段闭环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1554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D8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54480"/>
            <a:ext cx="1554480" cy="640080"/>
          </a:xfrm>
          <a:prstGeom prst="rect">
            <a:avLst/>
          </a:prstGeom>
          <a:solidFill>
            <a:srgbClr val="1565D8"/>
          </a:solidFill>
        </p:spPr>
      </p:sp>
      <p:sp>
        <p:nvSpPr>
          <p:cNvPr id="10" name="Text 8"/>
          <p:cNvSpPr/>
          <p:nvPr/>
        </p:nvSpPr>
        <p:spPr>
          <a:xfrm>
            <a:off x="365760" y="16002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58775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565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Sense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86207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看什么数据?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20240" y="2377440"/>
            <a:ext cx="146304" cy="36576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15" name="Shape 13"/>
          <p:cNvSpPr/>
          <p:nvPr/>
        </p:nvSpPr>
        <p:spPr>
          <a:xfrm>
            <a:off x="2066544" y="1554480"/>
            <a:ext cx="1554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66544" y="1554480"/>
            <a:ext cx="1554480" cy="64008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7" name="Text 15"/>
          <p:cNvSpPr/>
          <p:nvPr/>
        </p:nvSpPr>
        <p:spPr>
          <a:xfrm>
            <a:off x="2066544" y="16002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066544" y="228600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66544" y="258775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E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Decide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57984" y="286207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用什么模型?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21024" y="2377440"/>
            <a:ext cx="146304" cy="36576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22" name="Shape 20"/>
          <p:cNvSpPr/>
          <p:nvPr/>
        </p:nvSpPr>
        <p:spPr>
          <a:xfrm>
            <a:off x="3767328" y="1554480"/>
            <a:ext cx="1554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67328" y="1554480"/>
            <a:ext cx="1554480" cy="64008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24" name="Text 22"/>
          <p:cNvSpPr/>
          <p:nvPr/>
        </p:nvSpPr>
        <p:spPr>
          <a:xfrm>
            <a:off x="3767328" y="16002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3767328" y="228600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67328" y="258775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58768" y="286207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改什么?通知谁?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21808" y="2377440"/>
            <a:ext cx="146304" cy="36576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29" name="Shape 27"/>
          <p:cNvSpPr/>
          <p:nvPr/>
        </p:nvSpPr>
        <p:spPr>
          <a:xfrm>
            <a:off x="5468112" y="1554480"/>
            <a:ext cx="1554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6B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68112" y="1554480"/>
            <a:ext cx="1554480" cy="640080"/>
          </a:xfrm>
          <a:prstGeom prst="rect">
            <a:avLst/>
          </a:prstGeom>
          <a:solidFill>
            <a:srgbClr val="00A86B"/>
          </a:solidFill>
        </p:spPr>
      </p:sp>
      <p:sp>
        <p:nvSpPr>
          <p:cNvPr id="31" name="Text 29"/>
          <p:cNvSpPr/>
          <p:nvPr/>
        </p:nvSpPr>
        <p:spPr>
          <a:xfrm>
            <a:off x="5468112" y="16002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5468112" y="228600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68112" y="258775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Feedback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59552" y="286207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效果偏差多少?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22592" y="2377440"/>
            <a:ext cx="146304" cy="36576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36" name="Shape 34"/>
          <p:cNvSpPr/>
          <p:nvPr/>
        </p:nvSpPr>
        <p:spPr>
          <a:xfrm>
            <a:off x="7168896" y="1554480"/>
            <a:ext cx="1554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4855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68896" y="1554480"/>
            <a:ext cx="1554480" cy="640080"/>
          </a:xfrm>
          <a:prstGeom prst="rect">
            <a:avLst/>
          </a:prstGeom>
          <a:solidFill>
            <a:srgbClr val="E84855"/>
          </a:solidFill>
        </p:spPr>
      </p:sp>
      <p:sp>
        <p:nvSpPr>
          <p:cNvPr id="38" name="Text 36"/>
          <p:cNvSpPr/>
          <p:nvPr/>
        </p:nvSpPr>
        <p:spPr>
          <a:xfrm>
            <a:off x="7168896" y="16002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7168896" y="228600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改进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68896" y="258775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Improve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60336" y="286207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调什么参数?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352044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⤺  闭环:I → S 持续进化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3886200"/>
            <a:ext cx="8412480" cy="96012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4" name="Text 42"/>
          <p:cNvSpPr/>
          <p:nvPr/>
        </p:nvSpPr>
        <p:spPr>
          <a:xfrm>
            <a:off x="548640" y="3977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为什么强调闭环?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4224528"/>
            <a:ext cx="80924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银行业最大的风控挑战不是「当下能不能识别风险」,而是「明年的风险特征是否还能识别」。欺诈手法在演变,经营模式在变化 — 任何静态评分卡式的系统,上线那天就开始过时。SDAFI 闭环让 Agent 像有经验的客户经理一样,能从每一次决策的对错中学习,持续提升判断能力。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 / 28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743200" cy="51435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7772400" y="1371600"/>
            <a:ext cx="1828800" cy="2286000"/>
          </a:xfrm>
          <a:prstGeom prst="rect">
            <a:avLst/>
          </a:prstGeom>
          <a:solidFill>
            <a:srgbClr val="C9A961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128016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48640" cy="54864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6" name="Text 4"/>
          <p:cNvSpPr/>
          <p:nvPr/>
        </p:nvSpPr>
        <p:spPr>
          <a:xfrm>
            <a:off x="548640" y="30632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合规与安全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5C7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Compliance · Audit-by-Design 监管原生友好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4.1 合规与安全 · 监管框架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7371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监管框架:产品对位的四条红线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数据要授权 · 决策要可解释 · 最终由人工签批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54480"/>
            <a:ext cx="640080" cy="1463040"/>
          </a:xfrm>
          <a:prstGeom prst="rect">
            <a:avLst/>
          </a:prstGeom>
          <a:solidFill>
            <a:srgbClr val="E84855"/>
          </a:solidFill>
        </p:spPr>
      </p:sp>
      <p:sp>
        <p:nvSpPr>
          <p:cNvPr id="10" name="Text 8"/>
          <p:cNvSpPr/>
          <p:nvPr/>
        </p:nvSpPr>
        <p:spPr>
          <a:xfrm>
            <a:off x="365760" y="17830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" y="1645920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征信业务红线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3000" y="1920240"/>
            <a:ext cx="3246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《征信业务管理办法》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" y="21488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要求 ·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54480" y="21488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信用信息采集需明示同意,征信业务持牌经营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" y="25328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应对 · 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54480" y="253288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定位为决策辅助工具,不直接对外出具,仅供银行内部审批使用,不构成征信报告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55448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554480"/>
            <a:ext cx="640080" cy="146304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20" name="Text 18"/>
          <p:cNvSpPr/>
          <p:nvPr/>
        </p:nvSpPr>
        <p:spPr>
          <a:xfrm>
            <a:off x="4663440" y="17830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63440" y="23317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红线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40680" y="1645920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个人信息保护红线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40680" y="1920240"/>
            <a:ext cx="3246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《个人信息保护法》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40680" y="21488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要求 · 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852160" y="21488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最小必要 · 明示同意 · 可撤回授权 · 自动化决策可解释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40680" y="25328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应对 · 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52160" y="253288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完整授权链条 + Agent决策路径全程可追溯 + 人工最终签批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15468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154680"/>
            <a:ext cx="640080" cy="1463040"/>
          </a:xfrm>
          <a:prstGeom prst="rect">
            <a:avLst/>
          </a:prstGeom>
          <a:solidFill>
            <a:srgbClr val="1565D8"/>
          </a:solidFill>
        </p:spPr>
      </p:sp>
      <p:sp>
        <p:nvSpPr>
          <p:cNvPr id="30" name="Text 28"/>
          <p:cNvSpPr/>
          <p:nvPr/>
        </p:nvSpPr>
        <p:spPr>
          <a:xfrm>
            <a:off x="365760" y="33832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65760" y="39319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红线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" y="3246120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数据安全红线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43000" y="3520440"/>
            <a:ext cx="3246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《数据安全法》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43000" y="37490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要求 · 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554480" y="37490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数据本地化、分级分类、安全保护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43000" y="4133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应对 · 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554480" y="413308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全境内处理,数据分级分类管理,可私有化部署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315468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154680"/>
            <a:ext cx="640080" cy="1463040"/>
          </a:xfrm>
          <a:prstGeom prst="rect">
            <a:avLst/>
          </a:prstGeom>
          <a:solidFill>
            <a:srgbClr val="00A86B"/>
          </a:solidFill>
        </p:spPr>
      </p:sp>
      <p:sp>
        <p:nvSpPr>
          <p:cNvPr id="40" name="Text 38"/>
          <p:cNvSpPr/>
          <p:nvPr/>
        </p:nvSpPr>
        <p:spPr>
          <a:xfrm>
            <a:off x="4663440" y="33832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663440" y="39319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红线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40680" y="3246120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金融科技合规红线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40680" y="3520440"/>
            <a:ext cx="3246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《互联网贷款管理办法》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40680" y="37490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要求 ·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852160" y="37490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互联网贷款合作机构管理、风险隔离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40680" y="4133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应对 · 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852160" y="413308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产品作为银行的技术服务方,不参与贷款决策最终签批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 / 28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4.2 合规与安全 · Audit-by-Design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6101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SDAFI Audit-by-Design — 监管原生友好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审计能力是架构副产物,而非事后补丁 · 同类AI框架短期无法复制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Text 6"/>
          <p:cNvSpPr/>
          <p:nvPr/>
        </p:nvSpPr>
        <p:spPr>
          <a:xfrm>
            <a:off x="365760" y="15544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五阶段闭环 → 五张审计表的硬性映射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937760" cy="438912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10" name="Shape 8"/>
          <p:cNvSpPr/>
          <p:nvPr/>
        </p:nvSpPr>
        <p:spPr>
          <a:xfrm>
            <a:off x="457200" y="1938528"/>
            <a:ext cx="310896" cy="310896"/>
          </a:xfrm>
          <a:prstGeom prst="ellipse">
            <a:avLst/>
          </a:prstGeom>
          <a:solidFill>
            <a:srgbClr val="1565D8"/>
          </a:solidFill>
        </p:spPr>
      </p:sp>
      <p:sp>
        <p:nvSpPr>
          <p:cNvPr id="11" name="Text 9"/>
          <p:cNvSpPr/>
          <p:nvPr/>
        </p:nvSpPr>
        <p:spPr>
          <a:xfrm>
            <a:off x="457200" y="19385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19202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基于什么数据决策?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08483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device_pool / revenue_pool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874520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5760" y="2377440"/>
            <a:ext cx="4937760" cy="438912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16" name="Shape 14"/>
          <p:cNvSpPr/>
          <p:nvPr/>
        </p:nvSpPr>
        <p:spPr>
          <a:xfrm>
            <a:off x="457200" y="2441448"/>
            <a:ext cx="310896" cy="310896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17" name="Text 15"/>
          <p:cNvSpPr/>
          <p:nvPr/>
        </p:nvSpPr>
        <p:spPr>
          <a:xfrm>
            <a:off x="457200" y="24414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42316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怎么决策的?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258775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cycle_log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377440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4937760" cy="438912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22" name="Shape 20"/>
          <p:cNvSpPr/>
          <p:nvPr/>
        </p:nvSpPr>
        <p:spPr>
          <a:xfrm>
            <a:off x="457200" y="2944368"/>
            <a:ext cx="310896" cy="310896"/>
          </a:xfrm>
          <a:prstGeom prst="ellipse">
            <a:avLst/>
          </a:prstGeom>
          <a:solidFill>
            <a:srgbClr val="C9A961"/>
          </a:solidFill>
        </p:spPr>
      </p:sp>
      <p:sp>
        <p:nvSpPr>
          <p:cNvPr id="23" name="Text 21"/>
          <p:cNvSpPr/>
          <p:nvPr/>
        </p:nvSpPr>
        <p:spPr>
          <a:xfrm>
            <a:off x="457200" y="294436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292608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影响了什么?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09067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agent_signal_log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2880360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65760" y="3383280"/>
            <a:ext cx="4937760" cy="438912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28" name="Shape 26"/>
          <p:cNvSpPr/>
          <p:nvPr/>
        </p:nvSpPr>
        <p:spPr>
          <a:xfrm>
            <a:off x="457200" y="3447288"/>
            <a:ext cx="310896" cy="310896"/>
          </a:xfrm>
          <a:prstGeom prst="ellipse">
            <a:avLst/>
          </a:prstGeom>
          <a:solidFill>
            <a:srgbClr val="00A86B"/>
          </a:solidFill>
        </p:spPr>
      </p:sp>
      <p:sp>
        <p:nvSpPr>
          <p:cNvPr id="29" name="Text 27"/>
          <p:cNvSpPr/>
          <p:nvPr/>
        </p:nvSpPr>
        <p:spPr>
          <a:xfrm>
            <a:off x="457200" y="34472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342900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效果怎么样?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" y="359359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feedback_log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3383280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65760" y="3886200"/>
            <a:ext cx="4937760" cy="438912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34" name="Shape 32"/>
          <p:cNvSpPr/>
          <p:nvPr/>
        </p:nvSpPr>
        <p:spPr>
          <a:xfrm>
            <a:off x="457200" y="3950208"/>
            <a:ext cx="310896" cy="310896"/>
          </a:xfrm>
          <a:prstGeom prst="ellipse">
            <a:avLst/>
          </a:prstGeom>
          <a:solidFill>
            <a:srgbClr val="E84855"/>
          </a:solidFill>
        </p:spPr>
      </p:sp>
      <p:sp>
        <p:nvSpPr>
          <p:cNvPr id="35" name="Text 33"/>
          <p:cNvSpPr/>
          <p:nvPr/>
        </p:nvSpPr>
        <p:spPr>
          <a:xfrm>
            <a:off x="457200" y="39502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8680" y="393192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怎么修正?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09651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improve_log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0" y="3886200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86400" y="15544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与同类 AI Agent 框架审计能力对比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0" y="1874520"/>
            <a:ext cx="137160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1" name="Text 39"/>
          <p:cNvSpPr/>
          <p:nvPr/>
        </p:nvSpPr>
        <p:spPr>
          <a:xfrm>
            <a:off x="5486400" y="187452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审计维度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58000" y="1874520"/>
            <a:ext cx="59436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3" name="Text 41"/>
          <p:cNvSpPr/>
          <p:nvPr/>
        </p:nvSpPr>
        <p:spPr>
          <a:xfrm>
            <a:off x="6858000" y="1874520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Lang Chain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52360" y="1874520"/>
            <a:ext cx="64008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5" name="Text 43"/>
          <p:cNvSpPr/>
          <p:nvPr/>
        </p:nvSpPr>
        <p:spPr>
          <a:xfrm>
            <a:off x="7452360" y="187452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Lang Graph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092440" y="1874520"/>
            <a:ext cx="68580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7" name="Text 45"/>
          <p:cNvSpPr/>
          <p:nvPr/>
        </p:nvSpPr>
        <p:spPr>
          <a:xfrm>
            <a:off x="8092440" y="1874520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SDAFI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486400" y="2167128"/>
            <a:ext cx="1371600" cy="292608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49" name="Text 47"/>
          <p:cNvSpPr/>
          <p:nvPr/>
        </p:nvSpPr>
        <p:spPr>
          <a:xfrm>
            <a:off x="5486400" y="216712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决策输入留痕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858000" y="2167128"/>
            <a:ext cx="594360" cy="292608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51" name="Text 49"/>
          <p:cNvSpPr/>
          <p:nvPr/>
        </p:nvSpPr>
        <p:spPr>
          <a:xfrm>
            <a:off x="6858000" y="2167128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452360" y="2167128"/>
            <a:ext cx="640080" cy="292608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53" name="Text 51"/>
          <p:cNvSpPr/>
          <p:nvPr/>
        </p:nvSpPr>
        <p:spPr>
          <a:xfrm>
            <a:off x="7452360" y="2167128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△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092440" y="2167128"/>
            <a:ext cx="685800" cy="292608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55" name="Text 53"/>
          <p:cNvSpPr/>
          <p:nvPr/>
        </p:nvSpPr>
        <p:spPr>
          <a:xfrm>
            <a:off x="8092440" y="2167128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486400" y="2459736"/>
            <a:ext cx="13716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5486400" y="2459736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决策过程回放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858000" y="2459736"/>
            <a:ext cx="59436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9" name="Text 57"/>
          <p:cNvSpPr/>
          <p:nvPr/>
        </p:nvSpPr>
        <p:spPr>
          <a:xfrm>
            <a:off x="6858000" y="2459736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452360" y="2459736"/>
            <a:ext cx="6400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1" name="Text 59"/>
          <p:cNvSpPr/>
          <p:nvPr/>
        </p:nvSpPr>
        <p:spPr>
          <a:xfrm>
            <a:off x="7452360" y="245973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△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092440" y="2459736"/>
            <a:ext cx="6858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3" name="Text 61"/>
          <p:cNvSpPr/>
          <p:nvPr/>
        </p:nvSpPr>
        <p:spPr>
          <a:xfrm>
            <a:off x="8092440" y="2459736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486400" y="2752344"/>
            <a:ext cx="1371600" cy="292608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65" name="Text 63"/>
          <p:cNvSpPr/>
          <p:nvPr/>
        </p:nvSpPr>
        <p:spPr>
          <a:xfrm>
            <a:off x="5486400" y="2752344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协作因果链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858000" y="2752344"/>
            <a:ext cx="594360" cy="292608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67" name="Text 65"/>
          <p:cNvSpPr/>
          <p:nvPr/>
        </p:nvSpPr>
        <p:spPr>
          <a:xfrm>
            <a:off x="6858000" y="275234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452360" y="2752344"/>
            <a:ext cx="640080" cy="292608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69" name="Text 67"/>
          <p:cNvSpPr/>
          <p:nvPr/>
        </p:nvSpPr>
        <p:spPr>
          <a:xfrm>
            <a:off x="7452360" y="2752344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△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092440" y="2752344"/>
            <a:ext cx="685800" cy="292608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71" name="Text 69"/>
          <p:cNvSpPr/>
          <p:nvPr/>
        </p:nvSpPr>
        <p:spPr>
          <a:xfrm>
            <a:off x="8092440" y="2752344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486400" y="3044952"/>
            <a:ext cx="13716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3" name="Text 71"/>
          <p:cNvSpPr/>
          <p:nvPr/>
        </p:nvSpPr>
        <p:spPr>
          <a:xfrm>
            <a:off x="5486400" y="3044952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效果验证轨迹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858000" y="3044952"/>
            <a:ext cx="59436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5" name="Text 73"/>
          <p:cNvSpPr/>
          <p:nvPr/>
        </p:nvSpPr>
        <p:spPr>
          <a:xfrm>
            <a:off x="6858000" y="3044952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7452360" y="3044952"/>
            <a:ext cx="6400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7" name="Text 75"/>
          <p:cNvSpPr/>
          <p:nvPr/>
        </p:nvSpPr>
        <p:spPr>
          <a:xfrm>
            <a:off x="7452360" y="304495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8092440" y="3044952"/>
            <a:ext cx="6858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9" name="Text 77"/>
          <p:cNvSpPr/>
          <p:nvPr/>
        </p:nvSpPr>
        <p:spPr>
          <a:xfrm>
            <a:off x="8092440" y="3044952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486400" y="3337560"/>
            <a:ext cx="1371600" cy="292608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81" name="Text 79"/>
          <p:cNvSpPr/>
          <p:nvPr/>
        </p:nvSpPr>
        <p:spPr>
          <a:xfrm>
            <a:off x="5486400" y="333756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自修正历史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858000" y="3337560"/>
            <a:ext cx="594360" cy="292608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83" name="Text 81"/>
          <p:cNvSpPr/>
          <p:nvPr/>
        </p:nvSpPr>
        <p:spPr>
          <a:xfrm>
            <a:off x="6858000" y="3337560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7452360" y="3337560"/>
            <a:ext cx="640080" cy="292608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85" name="Text 83"/>
          <p:cNvSpPr/>
          <p:nvPr/>
        </p:nvSpPr>
        <p:spPr>
          <a:xfrm>
            <a:off x="7452360" y="333756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092440" y="3337560"/>
            <a:ext cx="685800" cy="292608"/>
          </a:xfrm>
          <a:prstGeom prst="rect">
            <a:avLst/>
          </a:prstGeom>
          <a:solidFill>
            <a:srgbClr val="FAFBFC"/>
          </a:solidFill>
        </p:spPr>
      </p:sp>
      <p:sp>
        <p:nvSpPr>
          <p:cNvPr id="87" name="Text 85"/>
          <p:cNvSpPr/>
          <p:nvPr/>
        </p:nvSpPr>
        <p:spPr>
          <a:xfrm>
            <a:off x="8092440" y="3337560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5486400" y="3630168"/>
            <a:ext cx="13716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9" name="Text 87"/>
          <p:cNvSpPr/>
          <p:nvPr/>
        </p:nvSpPr>
        <p:spPr>
          <a:xfrm>
            <a:off x="5486400" y="363016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跨实例一致性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858000" y="3630168"/>
            <a:ext cx="59436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1" name="Text 89"/>
          <p:cNvSpPr/>
          <p:nvPr/>
        </p:nvSpPr>
        <p:spPr>
          <a:xfrm>
            <a:off x="6858000" y="3630168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8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7452360" y="3630168"/>
            <a:ext cx="64008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3" name="Text 91"/>
          <p:cNvSpPr/>
          <p:nvPr/>
        </p:nvSpPr>
        <p:spPr>
          <a:xfrm>
            <a:off x="7452360" y="3630168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△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8092440" y="3630168"/>
            <a:ext cx="6858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5" name="Text 93"/>
          <p:cNvSpPr/>
          <p:nvPr/>
        </p:nvSpPr>
        <p:spPr>
          <a:xfrm>
            <a:off x="8092440" y="3630168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365760" y="4498848"/>
            <a:ext cx="8412480" cy="38404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97" name="Text 95"/>
          <p:cNvSpPr/>
          <p:nvPr/>
        </p:nvSpPr>
        <p:spPr>
          <a:xfrm>
            <a:off x="365760" y="4498848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结论:SDAFI 是目前唯一开箱即用满足银行业监管级回溯的 AI Agent 运行时 — 来自架构选择,而非后期叠加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 / 28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743200" cy="51435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7772400" y="1371600"/>
            <a:ext cx="1828800" cy="2286000"/>
          </a:xfrm>
          <a:prstGeom prst="rect">
            <a:avLst/>
          </a:prstGeom>
          <a:solidFill>
            <a:srgbClr val="C9A961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128016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48640" cy="54864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6" name="Text 4"/>
          <p:cNvSpPr/>
          <p:nvPr/>
        </p:nvSpPr>
        <p:spPr>
          <a:xfrm>
            <a:off x="548640" y="30632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标杆案例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5C7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Cases · 省级普惠金融示范区批量授信项目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5.1 标杆案例 · 省级普惠金融示范区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6101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案例:省级普惠金融示范区 35 万户批量授信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华南某地级市 · 与某国有大行合作 · 4 个月完成全量入库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9" name="Shape 7"/>
          <p:cNvSpPr/>
          <p:nvPr/>
        </p:nvSpPr>
        <p:spPr>
          <a:xfrm>
            <a:off x="365760" y="1554480"/>
            <a:ext cx="73152" cy="64008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10" name="Text 8"/>
          <p:cNvSpPr/>
          <p:nvPr/>
        </p:nvSpPr>
        <p:spPr>
          <a:xfrm>
            <a:off x="548640" y="162763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856232"/>
            <a:ext cx="8092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华南某地级市作为省级普惠金融示范区试点,需对辖区内约 35 万个体工商户和 10 万小微企业进行批量授信尽调,联合某国有大行落地 SKU 1(智能征信报告)+ SKU 4(贷中贷后监控)。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331720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解决方案 · 三步走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2697480" cy="105156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743200"/>
            <a:ext cx="365760" cy="365760"/>
          </a:xfrm>
          <a:prstGeom prst="ellipse">
            <a:avLst/>
          </a:prstGeom>
          <a:solidFill>
            <a:srgbClr val="1565D8"/>
          </a:solidFill>
        </p:spPr>
      </p:sp>
      <p:sp>
        <p:nvSpPr>
          <p:cNvPr id="15" name="Text 13"/>
          <p:cNvSpPr/>
          <p:nvPr/>
        </p:nvSpPr>
        <p:spPr>
          <a:xfrm>
            <a:off x="502920" y="27432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7432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批量授权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12724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三步授权机制:推送邀请 H5 → 实人核身 → 生成尽调报告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45 万份授权 100% 留痕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2651760"/>
            <a:ext cx="2697480" cy="105156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2743200"/>
            <a:ext cx="365760" cy="365760"/>
          </a:xfrm>
          <a:prstGeom prst="ellipse">
            <a:avLst/>
          </a:prstGeom>
          <a:solidFill>
            <a:srgbClr val="C9A961"/>
          </a:solidFill>
        </p:spPr>
      </p:sp>
      <p:sp>
        <p:nvSpPr>
          <p:cNvPr id="20" name="Text 18"/>
          <p:cNvSpPr/>
          <p:nvPr/>
        </p:nvSpPr>
        <p:spPr>
          <a:xfrm>
            <a:off x="3337560" y="27432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94760" y="27432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流水线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312724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 个 Agent 并行编排,平均 7 分钟完成单户尽调报告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稳定性 99.7%,无人工介入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2651760"/>
            <a:ext cx="2697480" cy="105156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2743200"/>
            <a:ext cx="365760" cy="365760"/>
          </a:xfrm>
          <a:prstGeom prst="ellipse">
            <a:avLst/>
          </a:prstGeom>
          <a:solidFill>
            <a:srgbClr val="00A86B"/>
          </a:solidFill>
        </p:spPr>
      </p:sp>
      <p:sp>
        <p:nvSpPr>
          <p:cNvPr id="25" name="Text 23"/>
          <p:cNvSpPr/>
          <p:nvPr/>
        </p:nvSpPr>
        <p:spPr>
          <a:xfrm>
            <a:off x="6172200" y="27432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29400" y="27432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优雅降级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12724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数据缺失时自动切换替代 API 或下调评分置信度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无效数据率 &lt; 0.3%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840480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项目成果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8795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45 万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11480" y="45262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授权报告</a:t>
            </a: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·  全量尽调完成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87168" y="4160520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78608" y="418795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个月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532888" y="45262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项目周期</a:t>
            </a: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·  立项到全量交付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08576" y="4160520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418795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 92%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654296" y="45262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户均成本</a:t>
            </a: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·  1,200 → 95 元/户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29984" y="4160520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21424" y="418795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8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73%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775704" y="45262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授信通过率</a:t>
            </a: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·  传统模式 &lt; 30%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 / 28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743200" cy="51435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7772400" y="1371600"/>
            <a:ext cx="1828800" cy="2286000"/>
          </a:xfrm>
          <a:prstGeom prst="rect">
            <a:avLst/>
          </a:prstGeom>
          <a:solidFill>
            <a:srgbClr val="C9A961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128016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48640" cy="54864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6" name="Text 4"/>
          <p:cNvSpPr/>
          <p:nvPr/>
        </p:nvSpPr>
        <p:spPr>
          <a:xfrm>
            <a:off x="548640" y="30632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实施路径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5C7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Implementation · POC · 试点 · 全面落地三阶段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6.1 实施路径 · 三阶段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3561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三阶段实施路径 · POC → 试点 → 全面落地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80060" y="1168527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由轻到重 · 由浅入深 · 风险可控的渐进式上线节奏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8412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54480"/>
            <a:ext cx="1691640" cy="960120"/>
          </a:xfrm>
          <a:prstGeom prst="rect">
            <a:avLst/>
          </a:prstGeom>
          <a:solidFill>
            <a:srgbClr val="1565D8"/>
          </a:solidFill>
        </p:spPr>
      </p:sp>
      <p:sp>
        <p:nvSpPr>
          <p:cNvPr id="10" name="Text 8"/>
          <p:cNvSpPr/>
          <p:nvPr/>
        </p:nvSpPr>
        <p:spPr>
          <a:xfrm>
            <a:off x="365760" y="1627632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概念验证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C7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4-6 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162763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94560" y="1801368"/>
            <a:ext cx="6492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1-2 个 SKU 在线 demo + 100-500 户样本数据回测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94560" y="2011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2185416"/>
            <a:ext cx="6492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验证数据可用性、Agent 输出质量、模型准确率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2304288"/>
            <a:ext cx="6492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  </a:t>
            </a:r>
            <a:r>
              <a:rPr lang="en-US" sz="900" b="1" i="1" dirty="0">
                <a:solidFill>
                  <a:srgbClr val="1565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POC 报告 + 推荐部署方案 + 试点行动计划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2514600"/>
            <a:ext cx="59436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⬇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8412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651760"/>
            <a:ext cx="1691640" cy="96012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21" name="Text 19"/>
          <p:cNvSpPr/>
          <p:nvPr/>
        </p:nvSpPr>
        <p:spPr>
          <a:xfrm>
            <a:off x="365760" y="2724912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2608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试点上线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5760" y="3291840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C7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3-4 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272491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范围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94560" y="2898648"/>
            <a:ext cx="6492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1-2 家分行 / 数千户量级 · 2-3 个 SKU 私有化部署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94560" y="310896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94560" y="3282696"/>
            <a:ext cx="6492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完整的合规审批 · 与现有信贷系统集成 · KPI 监控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94560" y="3401568"/>
            <a:ext cx="6492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  </a:t>
            </a:r>
            <a:r>
              <a:rPr lang="en-US" sz="900" b="1" i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正式上线 + 试点行成果报告 + 全行推广方案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4400" y="3611880"/>
            <a:ext cx="59436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⬇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3749040"/>
            <a:ext cx="8412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749040"/>
            <a:ext cx="1691640" cy="960120"/>
          </a:xfrm>
          <a:prstGeom prst="rect">
            <a:avLst/>
          </a:prstGeom>
          <a:solidFill>
            <a:srgbClr val="00A86B"/>
          </a:solidFill>
        </p:spPr>
      </p:sp>
      <p:sp>
        <p:nvSpPr>
          <p:cNvPr id="32" name="Text 30"/>
          <p:cNvSpPr/>
          <p:nvPr/>
        </p:nvSpPr>
        <p:spPr>
          <a:xfrm>
            <a:off x="365760" y="3822192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0233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全行推广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65760" y="4389120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C7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6-12 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94560" y="382219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范围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194560" y="3995928"/>
            <a:ext cx="6492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全行覆盖 + SKU 1-5 全量部署 + Agent 持续训练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194560" y="420624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194560" y="4379976"/>
            <a:ext cx="6492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ROI 6-10倍 · 普惠业务规模翻倍 · 风险密度提升 20×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94560" y="4498848"/>
            <a:ext cx="6492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  </a:t>
            </a:r>
            <a:r>
              <a:rPr lang="en-US" sz="900" b="1" i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完整运营体系 + 持续优化机制 + 标杆案例发布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864608"/>
            <a:ext cx="8412480" cy="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41" name="Text 39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 / 28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743200" cy="51435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7772400" y="1371600"/>
            <a:ext cx="1828800" cy="2286000"/>
          </a:xfrm>
          <a:prstGeom prst="rect">
            <a:avLst/>
          </a:prstGeom>
          <a:solidFill>
            <a:srgbClr val="C9A961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128016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48640" cy="54864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6" name="Text 4"/>
          <p:cNvSpPr/>
          <p:nvPr/>
        </p:nvSpPr>
        <p:spPr>
          <a:xfrm>
            <a:off x="548640" y="30632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关于金智维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5C7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About Kingsware · 中国 RPA + AI Agent 行业领先者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</a:t>
            </a:r>
            <a:r>
              <a:rPr lang="en-US" sz="900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Kingsware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7.1 关于金智维 · 公司概览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10973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" name="Text 3"/>
          <p:cNvSpPr/>
          <p:nvPr/>
        </p:nvSpPr>
        <p:spPr>
          <a:xfrm>
            <a:off x="435610" y="6858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金智维(Kingsware)· 中国 RPA + AI Agent 行业领先者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珠海金智维人工智能股份有限公司 · 银行业数字化转型核心伙伴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65760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8" name="Shape 6"/>
          <p:cNvSpPr/>
          <p:nvPr/>
        </p:nvSpPr>
        <p:spPr>
          <a:xfrm>
            <a:off x="365760" y="1554480"/>
            <a:ext cx="1993392" cy="914400"/>
          </a:xfrm>
          <a:prstGeom prst="rect">
            <a:avLst/>
          </a:prstGeom>
          <a:solidFill>
            <a:srgbClr val="FAFBFC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54480"/>
            <a:ext cx="1993392" cy="54864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10" name="Text 8"/>
          <p:cNvSpPr/>
          <p:nvPr/>
        </p:nvSpPr>
        <p:spPr>
          <a:xfrm>
            <a:off x="457200" y="16276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70+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207568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服务银行客户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国有大行 / 股份行 / 城商行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87168" y="1554480"/>
            <a:ext cx="1993392" cy="914400"/>
          </a:xfrm>
          <a:prstGeom prst="rect">
            <a:avLst/>
          </a:prstGeom>
          <a:solidFill>
            <a:srgbClr val="FAFBFC"/>
          </a:solidFill>
          <a:ln w="12700">
            <a:solidFill>
              <a:srgbClr val="1565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1554480"/>
            <a:ext cx="1993392" cy="54864"/>
          </a:xfrm>
          <a:prstGeom prst="rect">
            <a:avLst/>
          </a:prstGeom>
          <a:solidFill>
            <a:srgbClr val="1565D8"/>
          </a:solidFill>
        </p:spPr>
      </p:sp>
      <p:sp>
        <p:nvSpPr>
          <p:cNvPr id="15" name="Text 13"/>
          <p:cNvSpPr/>
          <p:nvPr/>
        </p:nvSpPr>
        <p:spPr>
          <a:xfrm>
            <a:off x="2578608" y="16276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5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2,000+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78608" y="207568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部署量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78608" y="228600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金融行业最大规模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08576" y="1554480"/>
            <a:ext cx="1993392" cy="914400"/>
          </a:xfrm>
          <a:prstGeom prst="rect">
            <a:avLst/>
          </a:prstGeom>
          <a:solidFill>
            <a:srgbClr val="FAFBFC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554480"/>
            <a:ext cx="1993392" cy="54864"/>
          </a:xfrm>
          <a:prstGeom prst="rect">
            <a:avLst/>
          </a:prstGeom>
          <a:solidFill>
            <a:srgbClr val="00A86B"/>
          </a:solidFill>
        </p:spPr>
      </p:sp>
      <p:sp>
        <p:nvSpPr>
          <p:cNvPr id="20" name="Text 18"/>
          <p:cNvSpPr/>
          <p:nvPr/>
        </p:nvSpPr>
        <p:spPr>
          <a:xfrm>
            <a:off x="4700016" y="16276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 万+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00016" y="207568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处理客户数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0016" y="228600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覆盖小微 / 个体 / 个人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29984" y="1554480"/>
            <a:ext cx="1993392" cy="914400"/>
          </a:xfrm>
          <a:prstGeom prst="rect">
            <a:avLst/>
          </a:prstGeom>
          <a:solidFill>
            <a:srgbClr val="FAFBFC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9984" y="1554480"/>
            <a:ext cx="1993392" cy="54864"/>
          </a:xfrm>
          <a:prstGeom prst="rect">
            <a:avLst/>
          </a:prstGeom>
          <a:solidFill>
            <a:srgbClr val="E84855"/>
          </a:solidFill>
        </p:spPr>
      </p:sp>
      <p:sp>
        <p:nvSpPr>
          <p:cNvPr id="25" name="Text 23"/>
          <p:cNvSpPr/>
          <p:nvPr/>
        </p:nvSpPr>
        <p:spPr>
          <a:xfrm>
            <a:off x="6821424" y="16276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48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 亿+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821424" y="207568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服务收入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21424" y="228600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累计为客户创造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2606040"/>
            <a:ext cx="5212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606040"/>
            <a:ext cx="5212080" cy="3657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0" name="Text 28"/>
          <p:cNvSpPr/>
          <p:nvPr/>
        </p:nvSpPr>
        <p:spPr>
          <a:xfrm>
            <a:off x="502920" y="26060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资质荣誉与认证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303580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3232" y="3035808"/>
            <a:ext cx="4800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国家级专精特新「小巨人」企业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3227832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" y="3227832"/>
            <a:ext cx="4800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信通院 RPA 卓越级 + AI Agent 领先级双认证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341985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3232" y="3419856"/>
            <a:ext cx="4800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Gartner 中国 RPA 厂商代表性供应商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361188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3232" y="3611880"/>
            <a:ext cx="4800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ISO27001 / DCMM 数据管理能力等保三级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3803904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A8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" y="3803904"/>
            <a:ext cx="4800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中国证券业 / 银行业协会会员单位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0" y="2606040"/>
            <a:ext cx="3108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0" y="2606040"/>
            <a:ext cx="3108960" cy="3657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3" name="Text 41"/>
          <p:cNvSpPr/>
          <p:nvPr/>
        </p:nvSpPr>
        <p:spPr>
          <a:xfrm>
            <a:off x="5806440" y="26060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研发与团队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806440" y="310896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800+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583680" y="31089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员工总数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23760" y="310896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12%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001000" y="31089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博士比例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806440" y="352044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45%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583680" y="35204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硕士比例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23760" y="352044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A9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70%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001000" y="35204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研发人员占比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53" name="Shape 51"/>
          <p:cNvSpPr/>
          <p:nvPr/>
        </p:nvSpPr>
        <p:spPr>
          <a:xfrm>
            <a:off x="365760" y="4160520"/>
            <a:ext cx="8412480" cy="54864"/>
          </a:xfrm>
          <a:prstGeom prst="rect">
            <a:avLst/>
          </a:prstGeom>
          <a:solidFill>
            <a:srgbClr val="C9A961"/>
          </a:solidFill>
        </p:spPr>
      </p:sp>
      <p:sp>
        <p:nvSpPr>
          <p:cNvPr id="54" name="Text 52"/>
          <p:cNvSpPr/>
          <p:nvPr/>
        </p:nvSpPr>
        <p:spPr>
          <a:xfrm>
            <a:off x="548640" y="42519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9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欢迎与我们交流合作</a:t>
            </a:r>
            <a:endParaRPr lang="en-US" sz="1300" dirty="0"/>
          </a:p>
        </p:txBody>
      </p:sp>
      <p:pic>
        <p:nvPicPr>
          <p:cNvPr id="5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08576"/>
            <a:ext cx="201168" cy="201168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822960" y="45720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官网 · </a:t>
            </a: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www.kingsware.cn</a:t>
            </a:r>
            <a:endParaRPr lang="en-US" sz="900" dirty="0"/>
          </a:p>
        </p:txBody>
      </p:sp>
      <p:pic>
        <p:nvPicPr>
          <p:cNvPr id="5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4608576"/>
            <a:ext cx="201168" cy="201168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3566160" y="45720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商务 · </a:t>
            </a: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bd@kingsware.cn</a:t>
            </a:r>
            <a:endParaRPr lang="en-US" sz="900" dirty="0"/>
          </a:p>
        </p:txBody>
      </p:sp>
      <p:pic>
        <p:nvPicPr>
          <p:cNvPr id="5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608576"/>
            <a:ext cx="201168" cy="201168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6309360" y="45720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电话 · </a:t>
            </a: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0756-333-7989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365760" y="48920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Inside AI · 智慧信贷智能体平台</a:t>
            </a:r>
            <a:endParaRPr lang="en-US" sz="800" dirty="0"/>
          </a:p>
        </p:txBody>
      </p:sp>
      <p:sp>
        <p:nvSpPr>
          <p:cNvPr id="62" name="Text 57"/>
          <p:cNvSpPr/>
          <p:nvPr/>
        </p:nvSpPr>
        <p:spPr>
          <a:xfrm>
            <a:off x="7772400" y="48920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28 / 28</a:t>
            </a:r>
            <a:endParaRPr lang="en-US" sz="800" dirty="0"/>
          </a:p>
        </p:txBody>
      </p:sp>
      <p:sp>
        <p:nvSpPr>
          <p:cNvPr id="63" name="文本框 62"/>
          <p:cNvSpPr txBox="1"/>
          <p:nvPr/>
        </p:nvSpPr>
        <p:spPr>
          <a:xfrm>
            <a:off x="812800" y="528955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7925</Words>
  <Application>WPS 演示</Application>
  <PresentationFormat>On-screen Show (16:9)</PresentationFormat>
  <Paragraphs>1406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珠海金智维人工智能股份有限公司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智慧信贷智能体平台 - 产品介绍</dc:title>
  <dc:creator>金智维 Kingsware</dc:creator>
  <dc:subject>PptxGenJS Presentation</dc:subject>
  <cp:lastModifiedBy>a</cp:lastModifiedBy>
  <cp:revision>7</cp:revision>
  <dcterms:created xsi:type="dcterms:W3CDTF">2026-04-27T03:02:00Z</dcterms:created>
  <dcterms:modified xsi:type="dcterms:W3CDTF">2026-04-30T00:48:55Z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38E04A7AADD24D75BD37E57A83A78794_12</vt:lpwstr>
  </property>
</Properties>
</file>